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1.png"/><Relationship Id="rId8" Type="http://schemas.openxmlformats.org/officeDocument/2006/relationships/image" Target="../media/image-12-1.png"/><Relationship Id="rId9" Type="http://schemas.openxmlformats.org/officeDocument/2006/relationships/image" Target="../media/image-12-1.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pic>
        <p:nvPicPr>
          <p:cNvPr id="2" name="Image 0" descr="/home/claude/work/assets/nmaist_logo.png">    </p:cNvPr>
          <p:cNvPicPr>
            <a:picLocks noChangeAspect="1"/>
          </p:cNvPicPr>
          <p:nvPr/>
        </p:nvPicPr>
        <p:blipFill>
          <a:blip r:embed="rId1"/>
          <a:stretch>
            <a:fillRect/>
          </a:stretch>
        </p:blipFill>
        <p:spPr>
          <a:xfrm>
            <a:off x="5638648" y="256032"/>
            <a:ext cx="914400" cy="822960"/>
          </a:xfrm>
          <a:prstGeom prst="rect">
            <a:avLst/>
          </a:prstGeom>
        </p:spPr>
      </p:pic>
      <p:sp>
        <p:nvSpPr>
          <p:cNvPr id="3" name="Text 0"/>
          <p:cNvSpPr/>
          <p:nvPr/>
        </p:nvSpPr>
        <p:spPr>
          <a:xfrm>
            <a:off x="914400" y="1170432"/>
            <a:ext cx="10362895" cy="320040"/>
          </a:xfrm>
          <a:prstGeom prst="rect">
            <a:avLst/>
          </a:prstGeom>
          <a:noFill/>
          <a:ln/>
        </p:spPr>
        <p:txBody>
          <a:bodyPr wrap="square" rtlCol="0" anchor="ctr"/>
          <a:lstStyle/>
          <a:p>
            <a:pPr algn="ctr" indent="0" marL="0">
              <a:buNone/>
            </a:pPr>
            <a:r>
              <a:rPr lang="en-US" sz="1200" b="1" spc="200" kern="0" dirty="0">
                <a:solidFill>
                  <a:srgbClr val="A6785C"/>
                </a:solidFill>
                <a:latin typeface="Calibri" pitchFamily="34" charset="0"/>
                <a:ea typeface="Calibri" pitchFamily="34" charset="-122"/>
                <a:cs typeface="Calibri" pitchFamily="34" charset="-120"/>
              </a:rPr>
              <a:t>CONCEPT NOTE</a:t>
            </a:r>
            <a:endParaRPr lang="en-US" sz="1200" dirty="0"/>
          </a:p>
        </p:txBody>
      </p:sp>
      <p:sp>
        <p:nvSpPr>
          <p:cNvPr id="4" name="Text 1"/>
          <p:cNvSpPr/>
          <p:nvPr/>
        </p:nvSpPr>
        <p:spPr>
          <a:xfrm>
            <a:off x="914400" y="1536192"/>
            <a:ext cx="10362895" cy="365760"/>
          </a:xfrm>
          <a:prstGeom prst="rect">
            <a:avLst/>
          </a:prstGeom>
          <a:noFill/>
          <a:ln/>
        </p:spPr>
        <p:txBody>
          <a:bodyPr wrap="square" rtlCol="0" anchor="ctr"/>
          <a:lstStyle/>
          <a:p>
            <a:pPr algn="ctr" indent="0" marL="0">
              <a:buNone/>
            </a:pPr>
            <a:r>
              <a:rPr lang="en-US" sz="1200" b="1" dirty="0">
                <a:solidFill>
                  <a:srgbClr val="3B6E8F"/>
                </a:solidFill>
                <a:latin typeface="Calibri" pitchFamily="34" charset="0"/>
                <a:ea typeface="Calibri" pitchFamily="34" charset="-122"/>
                <a:cs typeface="Calibri" pitchFamily="34" charset="-120"/>
              </a:rPr>
              <a:t>THE NELSON MANDELA AFRICAN INSTITUTION OF SCIENCE AND TECHNOLOGY (NM-AIST)</a:t>
            </a:r>
            <a:endParaRPr lang="en-US" sz="1200" dirty="0"/>
          </a:p>
        </p:txBody>
      </p:sp>
      <p:sp>
        <p:nvSpPr>
          <p:cNvPr id="5" name="Text 2"/>
          <p:cNvSpPr/>
          <p:nvPr/>
        </p:nvSpPr>
        <p:spPr>
          <a:xfrm>
            <a:off x="914400" y="1920240"/>
            <a:ext cx="10362895" cy="320040"/>
          </a:xfrm>
          <a:prstGeom prst="rect">
            <a:avLst/>
          </a:prstGeom>
          <a:noFill/>
          <a:ln/>
        </p:spPr>
        <p:txBody>
          <a:bodyPr wrap="square" rtlCol="0" anchor="ctr"/>
          <a:lstStyle/>
          <a:p>
            <a:pPr algn="ctr" indent="0" marL="0">
              <a:buNone/>
            </a:pPr>
            <a:r>
              <a:rPr lang="en-US" sz="1100" dirty="0">
                <a:solidFill>
                  <a:srgbClr val="5C7A8A"/>
                </a:solidFill>
                <a:latin typeface="Calibri" pitchFamily="34" charset="0"/>
                <a:ea typeface="Calibri" pitchFamily="34" charset="-122"/>
                <a:cs typeface="Calibri" pitchFamily="34" charset="-120"/>
              </a:rPr>
              <a:t>MASTER OF SCIENCE IN DATA SCIENCE AND ARTIFICIAL INTELLIGENCE</a:t>
            </a:r>
            <a:endParaRPr lang="en-US" sz="1100" dirty="0"/>
          </a:p>
        </p:txBody>
      </p:sp>
      <p:sp>
        <p:nvSpPr>
          <p:cNvPr id="6" name="Text 3"/>
          <p:cNvSpPr/>
          <p:nvPr/>
        </p:nvSpPr>
        <p:spPr>
          <a:xfrm>
            <a:off x="914400" y="2606040"/>
            <a:ext cx="10362895" cy="777240"/>
          </a:xfrm>
          <a:prstGeom prst="rect">
            <a:avLst/>
          </a:prstGeom>
          <a:noFill/>
          <a:ln/>
        </p:spPr>
        <p:txBody>
          <a:bodyPr wrap="square" rtlCol="0" anchor="ctr"/>
          <a:lstStyle/>
          <a:p>
            <a:pPr algn="ctr" indent="0" marL="0">
              <a:buNone/>
            </a:pPr>
            <a:r>
              <a:rPr lang="en-US" sz="4400" b="1" dirty="0">
                <a:solidFill>
                  <a:srgbClr val="2B2B28"/>
                </a:solidFill>
                <a:latin typeface="Georgia" pitchFamily="34" charset="0"/>
                <a:ea typeface="Georgia" pitchFamily="34" charset="-122"/>
                <a:cs typeface="Georgia" pitchFamily="34" charset="-120"/>
              </a:rPr>
              <a:t>AfriMeet AI</a:t>
            </a:r>
            <a:endParaRPr lang="en-US" sz="4400" dirty="0"/>
          </a:p>
        </p:txBody>
      </p:sp>
      <p:sp>
        <p:nvSpPr>
          <p:cNvPr id="7" name="Text 4"/>
          <p:cNvSpPr/>
          <p:nvPr/>
        </p:nvSpPr>
        <p:spPr>
          <a:xfrm>
            <a:off x="1188720" y="3429000"/>
            <a:ext cx="9814255" cy="822960"/>
          </a:xfrm>
          <a:prstGeom prst="rect">
            <a:avLst/>
          </a:prstGeom>
          <a:noFill/>
          <a:ln/>
        </p:spPr>
        <p:txBody>
          <a:bodyPr wrap="square" rtlCol="0" anchor="t"/>
          <a:lstStyle/>
          <a:p>
            <a:pPr algn="ctr" indent="0" marL="0">
              <a:buNone/>
            </a:pPr>
            <a:r>
              <a:rPr lang="en-US" sz="1700" i="1" dirty="0">
                <a:solidFill>
                  <a:srgbClr val="3B6E8F"/>
                </a:solidFill>
                <a:latin typeface="Georgia" pitchFamily="34" charset="0"/>
                <a:ea typeface="Georgia" pitchFamily="34" charset="-122"/>
                <a:cs typeface="Georgia" pitchFamily="34" charset="-120"/>
              </a:rPr>
              <a:t>An Intelligent Multilingual Meeting Assistant with Domain-Adaptive Speech Recognition for African Institutions</a:t>
            </a:r>
            <a:endParaRPr lang="en-US" sz="1700" dirty="0"/>
          </a:p>
        </p:txBody>
      </p:sp>
      <p:sp>
        <p:nvSpPr>
          <p:cNvPr id="8" name="Text 5"/>
          <p:cNvSpPr/>
          <p:nvPr/>
        </p:nvSpPr>
        <p:spPr>
          <a:xfrm>
            <a:off x="914400" y="5852160"/>
            <a:ext cx="10362895" cy="365760"/>
          </a:xfrm>
          <a:prstGeom prst="rect">
            <a:avLst/>
          </a:prstGeom>
          <a:noFill/>
          <a:ln/>
        </p:spPr>
        <p:txBody>
          <a:bodyPr wrap="square" rtlCol="0" anchor="ctr"/>
          <a:lstStyle/>
          <a:p>
            <a:pPr algn="ctr" indent="0" marL="0">
              <a:buNone/>
            </a:pPr>
            <a:r>
              <a:rPr lang="en-US" sz="1400" b="1" dirty="0">
                <a:solidFill>
                  <a:srgbClr val="2B2B28"/>
                </a:solidFill>
                <a:latin typeface="Calibri" pitchFamily="34" charset="0"/>
                <a:ea typeface="Calibri" pitchFamily="34" charset="-122"/>
                <a:cs typeface="Calibri" pitchFamily="34" charset="-120"/>
              </a:rPr>
              <a:t>Prepared by: </a:t>
            </a:r>
            <a:pPr algn="ctr" indent="0" marL="0">
              <a:buNone/>
            </a:pPr>
            <a:r>
              <a:rPr lang="en-US" sz="1400" dirty="0">
                <a:solidFill>
                  <a:srgbClr val="2B2B28"/>
                </a:solidFill>
                <a:latin typeface="Calibri" pitchFamily="34" charset="0"/>
                <a:ea typeface="Calibri" pitchFamily="34" charset="-122"/>
                <a:cs typeface="Calibri" pitchFamily="34" charset="-120"/>
              </a:rPr>
              <a:t>Claverfred Dominicus Mhidze</a:t>
            </a:r>
            <a:endParaRPr lang="en-US" sz="1400" dirty="0"/>
          </a:p>
        </p:txBody>
      </p:sp>
      <p:sp>
        <p:nvSpPr>
          <p:cNvPr id="9" name="Text 6"/>
          <p:cNvSpPr/>
          <p:nvPr/>
        </p:nvSpPr>
        <p:spPr>
          <a:xfrm>
            <a:off x="914400" y="6217920"/>
            <a:ext cx="10362895" cy="320040"/>
          </a:xfrm>
          <a:prstGeom prst="rect">
            <a:avLst/>
          </a:prstGeom>
          <a:noFill/>
          <a:ln/>
        </p:spPr>
        <p:txBody>
          <a:bodyPr wrap="square" rtlCol="0" anchor="ctr"/>
          <a:lstStyle/>
          <a:p>
            <a:pPr algn="ctr" indent="0" marL="0">
              <a:buNone/>
            </a:pPr>
            <a:r>
              <a:rPr lang="en-US" sz="1200" dirty="0">
                <a:solidFill>
                  <a:srgbClr val="5C7A8A"/>
                </a:solidFill>
                <a:latin typeface="Calibri" pitchFamily="34" charset="0"/>
                <a:ea typeface="Calibri" pitchFamily="34" charset="-122"/>
                <a:cs typeface="Calibri" pitchFamily="34" charset="-120"/>
              </a:rPr>
              <a:t>Master of Science in Data Science and Artificial Intelligence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2</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 Background</a:t>
            </a:r>
            <a:endParaRPr lang="en-US" sz="2600" dirty="0"/>
          </a:p>
        </p:txBody>
      </p:sp>
      <p:sp>
        <p:nvSpPr>
          <p:cNvPr id="4" name="Text 2"/>
          <p:cNvSpPr/>
          <p:nvPr/>
        </p:nvSpPr>
        <p:spPr>
          <a:xfrm>
            <a:off x="841248" y="1828800"/>
            <a:ext cx="10509199" cy="685800"/>
          </a:xfrm>
          <a:prstGeom prst="rect">
            <a:avLst/>
          </a:prstGeom>
          <a:noFill/>
          <a:ln/>
        </p:spPr>
        <p:txBody>
          <a:bodyPr wrap="square" rtlCol="0" anchor="t"/>
          <a:lstStyle/>
          <a:p>
            <a:pPr indent="0" marL="0">
              <a:buNone/>
            </a:pPr>
            <a:r>
              <a:rPr lang="en-US" sz="1600" dirty="0">
                <a:solidFill>
                  <a:srgbClr val="2B2B28"/>
                </a:solidFill>
                <a:latin typeface="Calibri" pitchFamily="34" charset="0"/>
                <a:ea typeface="Calibri" pitchFamily="34" charset="-122"/>
                <a:cs typeface="Calibri" pitchFamily="34" charset="-120"/>
              </a:rPr>
              <a:t>Africa is home to more than 2,000 languages, making multilingual communication both a cultural strength and a significant operational challenge.</a:t>
            </a:r>
            <a:endParaRPr lang="en-US" sz="1600" dirty="0"/>
          </a:p>
        </p:txBody>
      </p:sp>
      <p:sp>
        <p:nvSpPr>
          <p:cNvPr id="5" name="Text 3"/>
          <p:cNvSpPr/>
          <p:nvPr/>
        </p:nvSpPr>
        <p:spPr>
          <a:xfrm>
            <a:off x="841248" y="2606040"/>
            <a:ext cx="10509199" cy="3383280"/>
          </a:xfrm>
          <a:prstGeom prst="rect">
            <a:avLst/>
          </a:prstGeom>
          <a:noFill/>
          <a:ln/>
        </p:spPr>
        <p:txBody>
          <a:bodyPr wrap="square" rtlCol="0" anchor="t"/>
          <a:lstStyle/>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Government institutions, universities, conference centres, hospitals, courts, international organizations, and private companies frequently conduct multilingual meetings.</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Existing platforms (Zoom, Teams, Google Meet) provide limited support for African languages and are not optimized for multilingual collaboration.</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Speech recognition systems generally perform poorly on African accents, code-switching, and domain-specific conference terminology.</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AfriMeet AI centers on a fine-tuned ASR model for conference and institutional meetings, evaluating whether domain adaptation improves transcription accuracy over pre-trained models.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3</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2. Problem Statement</a:t>
            </a:r>
            <a:endParaRPr lang="en-US" sz="2600" dirty="0"/>
          </a:p>
        </p:txBody>
      </p:sp>
      <p:sp>
        <p:nvSpPr>
          <p:cNvPr id="4" name="Text 2"/>
          <p:cNvSpPr/>
          <p:nvPr/>
        </p:nvSpPr>
        <p:spPr>
          <a:xfrm>
            <a:off x="841248" y="1828800"/>
            <a:ext cx="10509199" cy="1188720"/>
          </a:xfrm>
          <a:prstGeom prst="rect">
            <a:avLst/>
          </a:prstGeom>
          <a:noFill/>
          <a:ln/>
        </p:spPr>
        <p:txBody>
          <a:bodyPr wrap="square" rtlCol="0" anchor="t"/>
          <a:lstStyle/>
          <a:p>
            <a:pPr indent="0" marL="0">
              <a:buNone/>
            </a:pPr>
            <a:r>
              <a:rPr lang="en-US" sz="1600" dirty="0">
                <a:solidFill>
                  <a:srgbClr val="2B2B28"/>
                </a:solidFill>
                <a:latin typeface="Calibri" pitchFamily="34" charset="0"/>
                <a:ea typeface="Calibri" pitchFamily="34" charset="-122"/>
                <a:cs typeface="Calibri" pitchFamily="34" charset="-120"/>
              </a:rPr>
              <a:t>African organizations conduct multilingual meetings where communication barriers reduce productivity, inclusiveness, and decision-making effectiveness. Existing AI meeting assistants provide inadequate support for African languages and institutional terminology. Consequently:</a:t>
            </a:r>
            <a:endParaRPr lang="en-US" sz="1600" dirty="0"/>
          </a:p>
        </p:txBody>
      </p:sp>
      <p:sp>
        <p:nvSpPr>
          <p:cNvPr id="5" name="Text 3"/>
          <p:cNvSpPr/>
          <p:nvPr/>
        </p:nvSpPr>
        <p:spPr>
          <a:xfrm>
            <a:off x="841248" y="3108960"/>
            <a:ext cx="10509199" cy="2377440"/>
          </a:xfrm>
          <a:prstGeom prst="rect">
            <a:avLst/>
          </a:prstGeom>
          <a:noFill/>
          <a:ln/>
        </p:spPr>
        <p:txBody>
          <a:bodyPr wrap="square" rtlCol="0" anchor="t"/>
          <a:lstStyle/>
          <a:p>
            <a:pPr marL="342900" indent="-342900">
              <a:spcAft>
                <a:spcPts val="900"/>
              </a:spcAft>
              <a:buSzPct val="100000"/>
              <a:buChar char="•"/>
            </a:pPr>
            <a:r>
              <a:rPr lang="en-US" sz="1500" dirty="0">
                <a:solidFill>
                  <a:srgbClr val="2B2B28"/>
                </a:solidFill>
                <a:latin typeface="Calibri" pitchFamily="34" charset="0"/>
                <a:ea typeface="Calibri" pitchFamily="34" charset="-122"/>
                <a:cs typeface="Calibri" pitchFamily="34" charset="-120"/>
              </a:rPr>
              <a:t>Communication across languages remains difficult.</a:t>
            </a:r>
            <a:endParaRPr lang="en-US" sz="1500" dirty="0"/>
          </a:p>
          <a:p>
            <a:pPr marL="342900" indent="-342900">
              <a:spcAft>
                <a:spcPts val="900"/>
              </a:spcAft>
              <a:buSzPct val="100000"/>
              <a:buChar char="•"/>
            </a:pPr>
            <a:r>
              <a:rPr lang="en-US" sz="1500" dirty="0">
                <a:solidFill>
                  <a:srgbClr val="2B2B28"/>
                </a:solidFill>
                <a:latin typeface="Calibri" pitchFamily="34" charset="0"/>
                <a:ea typeface="Calibri" pitchFamily="34" charset="-122"/>
                <a:cs typeface="Calibri" pitchFamily="34" charset="-120"/>
              </a:rPr>
              <a:t>Meeting documentation is largely manual.</a:t>
            </a:r>
            <a:endParaRPr lang="en-US" sz="1500" dirty="0"/>
          </a:p>
          <a:p>
            <a:pPr marL="342900" indent="-342900">
              <a:spcAft>
                <a:spcPts val="900"/>
              </a:spcAft>
              <a:buSzPct val="100000"/>
              <a:buChar char="•"/>
            </a:pPr>
            <a:r>
              <a:rPr lang="en-US" sz="1500" dirty="0">
                <a:solidFill>
                  <a:srgbClr val="2B2B28"/>
                </a:solidFill>
                <a:latin typeface="Calibri" pitchFamily="34" charset="0"/>
                <a:ea typeface="Calibri" pitchFamily="34" charset="-122"/>
                <a:cs typeface="Calibri" pitchFamily="34" charset="-120"/>
              </a:rPr>
              <a:t>Important information may be lost.</a:t>
            </a:r>
            <a:endParaRPr lang="en-US" sz="1500" dirty="0"/>
          </a:p>
          <a:p>
            <a:pPr marL="342900" indent="-342900">
              <a:spcAft>
                <a:spcPts val="900"/>
              </a:spcAft>
              <a:buSzPct val="100000"/>
              <a:buChar char="•"/>
            </a:pPr>
            <a:r>
              <a:rPr lang="en-US" sz="1500" dirty="0">
                <a:solidFill>
                  <a:srgbClr val="2B2B28"/>
                </a:solidFill>
                <a:latin typeface="Calibri" pitchFamily="34" charset="0"/>
                <a:ea typeface="Calibri" pitchFamily="34" charset="-122"/>
                <a:cs typeface="Calibri" pitchFamily="34" charset="-120"/>
              </a:rPr>
              <a:t>Meeting outcomes are difficult to retrieve later.</a:t>
            </a:r>
            <a:endParaRPr lang="en-US" sz="1500" dirty="0"/>
          </a:p>
          <a:p>
            <a:pPr marL="342900" indent="-342900">
              <a:spcAft>
                <a:spcPts val="900"/>
              </a:spcAft>
              <a:buSzPct val="100000"/>
              <a:buChar char="•"/>
            </a:pPr>
            <a:r>
              <a:rPr lang="en-US" sz="1500" dirty="0">
                <a:solidFill>
                  <a:srgbClr val="2B2B28"/>
                </a:solidFill>
                <a:latin typeface="Calibri" pitchFamily="34" charset="0"/>
                <a:ea typeface="Calibri" pitchFamily="34" charset="-122"/>
                <a:cs typeface="Calibri" pitchFamily="34" charset="-120"/>
              </a:rPr>
              <a:t>Existing speech recognition systems achieve lower accuracy on African multilingual speech.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3. Project Goal &amp; 4. Specific Objectives</a:t>
            </a:r>
            <a:endParaRPr lang="en-US" sz="2600" dirty="0"/>
          </a:p>
        </p:txBody>
      </p:sp>
      <p:sp>
        <p:nvSpPr>
          <p:cNvPr id="4" name="Shape 2"/>
          <p:cNvSpPr/>
          <p:nvPr/>
        </p:nvSpPr>
        <p:spPr>
          <a:xfrm>
            <a:off x="841248" y="1673352"/>
            <a:ext cx="10509199" cy="960120"/>
          </a:xfrm>
          <a:prstGeom prst="roundRect">
            <a:avLst>
              <a:gd name="adj" fmla="val 11429"/>
            </a:avLst>
          </a:prstGeom>
          <a:solidFill>
            <a:srgbClr val="E4EDF2"/>
          </a:solidFill>
          <a:ln/>
        </p:spPr>
      </p:sp>
      <p:sp>
        <p:nvSpPr>
          <p:cNvPr id="5" name="Text 3"/>
          <p:cNvSpPr/>
          <p:nvPr/>
        </p:nvSpPr>
        <p:spPr>
          <a:xfrm>
            <a:off x="1069848" y="1737360"/>
            <a:ext cx="10051999" cy="822960"/>
          </a:xfrm>
          <a:prstGeom prst="rect">
            <a:avLst/>
          </a:prstGeom>
          <a:noFill/>
          <a:ln/>
        </p:spPr>
        <p:txBody>
          <a:bodyPr wrap="square" rtlCol="0" anchor="ctr"/>
          <a:lstStyle/>
          <a:p>
            <a:pPr indent="0" marL="0">
              <a:buNone/>
            </a:pPr>
            <a:r>
              <a:rPr lang="en-US" sz="1500" b="1" dirty="0">
                <a:solidFill>
                  <a:srgbClr val="3B6E8F"/>
                </a:solidFill>
                <a:latin typeface="Calibri" pitchFamily="34" charset="0"/>
                <a:ea typeface="Calibri" pitchFamily="34" charset="-122"/>
                <a:cs typeface="Calibri" pitchFamily="34" charset="-120"/>
              </a:rPr>
              <a:t>Project Goal
</a:t>
            </a:r>
            <a:endParaRPr lang="en-US" sz="1500" dirty="0"/>
          </a:p>
          <a:p>
            <a:pPr indent="0" marL="0">
              <a:buNone/>
            </a:pPr>
            <a:r>
              <a:rPr lang="en-US" sz="1350" i="1" dirty="0">
                <a:solidFill>
                  <a:srgbClr val="2B2B28"/>
                </a:solidFill>
                <a:latin typeface="Calibri" pitchFamily="34" charset="0"/>
                <a:ea typeface="Calibri" pitchFamily="34" charset="-122"/>
                <a:cs typeface="Calibri" pitchFamily="34" charset="-120"/>
              </a:rPr>
              <a:t>To develop and evaluate an intelligent multilingual meeting assistant that leverages domain-adaptive machine learning to improve speech recognition accuracy and automate multilingual meeting documentation for African institutions.</a:t>
            </a:r>
            <a:endParaRPr lang="en-US" sz="1500" dirty="0"/>
          </a:p>
        </p:txBody>
      </p:sp>
      <p:sp>
        <p:nvSpPr>
          <p:cNvPr id="6" name="Text 4"/>
          <p:cNvSpPr/>
          <p:nvPr/>
        </p:nvSpPr>
        <p:spPr>
          <a:xfrm>
            <a:off x="841248" y="2880360"/>
            <a:ext cx="10509199" cy="320040"/>
          </a:xfrm>
          <a:prstGeom prst="rect">
            <a:avLst/>
          </a:prstGeom>
          <a:noFill/>
          <a:ln/>
        </p:spPr>
        <p:txBody>
          <a:bodyPr wrap="square" rtlCol="0" anchor="ctr"/>
          <a:lstStyle/>
          <a:p>
            <a:pPr indent="0" marL="0">
              <a:buNone/>
            </a:pPr>
            <a:r>
              <a:rPr lang="en-US" sz="1500" b="1" dirty="0">
                <a:solidFill>
                  <a:srgbClr val="74875A"/>
                </a:solidFill>
                <a:latin typeface="Calibri" pitchFamily="34" charset="0"/>
                <a:ea typeface="Calibri" pitchFamily="34" charset="-122"/>
                <a:cs typeface="Calibri" pitchFamily="34" charset="-120"/>
              </a:rPr>
              <a:t>Specific Objectives</a:t>
            </a:r>
            <a:endParaRPr lang="en-US" sz="1500" dirty="0"/>
          </a:p>
        </p:txBody>
      </p:sp>
      <p:sp>
        <p:nvSpPr>
          <p:cNvPr id="7" name="Text 5"/>
          <p:cNvSpPr/>
          <p:nvPr/>
        </p:nvSpPr>
        <p:spPr>
          <a:xfrm>
            <a:off x="841248" y="3246120"/>
            <a:ext cx="5071720" cy="2011680"/>
          </a:xfrm>
          <a:prstGeom prst="rect">
            <a:avLst/>
          </a:prstGeom>
          <a:noFill/>
          <a:ln/>
        </p:spPr>
        <p:txBody>
          <a:bodyPr wrap="square" rtlCol="0" anchor="t"/>
          <a:lstStyle/>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Develop a speech recognition model for multilingual African conference meetings</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Fine-tune the Whisper model using conference-domain speech data</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Compare fine-tuned model performance with the original Whisper model</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Integrate multilingual translation between Kiswahili and English</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Automatically generate meeting transcripts</a:t>
            </a:r>
            <a:endParaRPr lang="en-US" sz="1300" dirty="0"/>
          </a:p>
        </p:txBody>
      </p:sp>
      <p:sp>
        <p:nvSpPr>
          <p:cNvPr id="8" name="Text 6"/>
          <p:cNvSpPr/>
          <p:nvPr/>
        </p:nvSpPr>
        <p:spPr>
          <a:xfrm>
            <a:off x="6278728" y="3246120"/>
            <a:ext cx="5071720" cy="2011680"/>
          </a:xfrm>
          <a:prstGeom prst="rect">
            <a:avLst/>
          </a:prstGeom>
          <a:noFill/>
          <a:ln/>
        </p:spPr>
        <p:txBody>
          <a:bodyPr wrap="square" rtlCol="0" anchor="t"/>
          <a:lstStyle/>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Generate AI-powered meeting summaries</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Extract meeting action items, responsibilities, and deadlines</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Deploy the trained model through a web-based application and API</a:t>
            </a:r>
            <a:endParaRPr lang="en-US" sz="1300" dirty="0"/>
          </a:p>
          <a:p>
            <a:pPr marL="342900" indent="-342900">
              <a:spcAft>
                <a:spcPts val="700"/>
              </a:spcAft>
              <a:buSzPct val="100000"/>
              <a:buChar char="•"/>
            </a:pPr>
            <a:r>
              <a:rPr lang="en-US" sz="1300" dirty="0">
                <a:solidFill>
                  <a:srgbClr val="2B2B28"/>
                </a:solidFill>
                <a:latin typeface="Calibri" pitchFamily="34" charset="0"/>
                <a:ea typeface="Calibri" pitchFamily="34" charset="-122"/>
                <a:cs typeface="Calibri" pitchFamily="34" charset="-120"/>
              </a:rPr>
              <a:t>Demonstrate a reproducible end-to-end machine learning workflow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5</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5. Research Question</a:t>
            </a:r>
            <a:endParaRPr lang="en-US" sz="2600" dirty="0"/>
          </a:p>
        </p:txBody>
      </p:sp>
      <p:sp>
        <p:nvSpPr>
          <p:cNvPr id="4" name="Shape 2"/>
          <p:cNvSpPr/>
          <p:nvPr/>
        </p:nvSpPr>
        <p:spPr>
          <a:xfrm>
            <a:off x="1572768" y="2468880"/>
            <a:ext cx="9046159" cy="2103120"/>
          </a:xfrm>
          <a:prstGeom prst="roundRect">
            <a:avLst>
              <a:gd name="adj" fmla="val 6522"/>
            </a:avLst>
          </a:prstGeom>
          <a:solidFill>
            <a:srgbClr val="E4EDF2"/>
          </a:solidFill>
          <a:ln/>
        </p:spPr>
      </p:sp>
      <p:sp>
        <p:nvSpPr>
          <p:cNvPr id="5" name="Text 3"/>
          <p:cNvSpPr/>
          <p:nvPr/>
        </p:nvSpPr>
        <p:spPr>
          <a:xfrm>
            <a:off x="1892808" y="2468880"/>
            <a:ext cx="8406079" cy="2103120"/>
          </a:xfrm>
          <a:prstGeom prst="rect">
            <a:avLst/>
          </a:prstGeom>
          <a:noFill/>
          <a:ln/>
        </p:spPr>
        <p:txBody>
          <a:bodyPr wrap="square" rtlCol="0" anchor="ctr"/>
          <a:lstStyle/>
          <a:p>
            <a:pPr algn="ctr" indent="0" marL="0">
              <a:buNone/>
            </a:pPr>
            <a:r>
              <a:rPr lang="en-US" sz="2100" i="1" dirty="0">
                <a:solidFill>
                  <a:srgbClr val="2B2B28"/>
                </a:solidFill>
                <a:latin typeface="Georgia" pitchFamily="34" charset="0"/>
                <a:ea typeface="Georgia" pitchFamily="34" charset="-122"/>
                <a:cs typeface="Georgia" pitchFamily="34" charset="-120"/>
              </a:rPr>
              <a:t>Can domain-specific fine-tuning of the Whisper Automatic Speech Recognition model improve transcription accuracy for multilingual African conference meetings compared to the original pre-trained model?</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6</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6. Proposed Solution</a:t>
            </a:r>
            <a:endParaRPr lang="en-US" sz="2600" dirty="0"/>
          </a:p>
        </p:txBody>
      </p:sp>
      <p:sp>
        <p:nvSpPr>
          <p:cNvPr id="4" name="Text 2"/>
          <p:cNvSpPr/>
          <p:nvPr/>
        </p:nvSpPr>
        <p:spPr>
          <a:xfrm>
            <a:off x="841248" y="1828800"/>
            <a:ext cx="10509199" cy="457200"/>
          </a:xfrm>
          <a:prstGeom prst="rect">
            <a:avLst/>
          </a:prstGeom>
          <a:noFill/>
          <a:ln/>
        </p:spPr>
        <p:txBody>
          <a:bodyPr wrap="square" rtlCol="0" anchor="t"/>
          <a:lstStyle/>
          <a:p>
            <a:pPr indent="0" marL="0">
              <a:buNone/>
            </a:pPr>
            <a:r>
              <a:rPr lang="en-US" sz="1600" dirty="0">
                <a:solidFill>
                  <a:srgbClr val="2B2B28"/>
                </a:solidFill>
                <a:latin typeface="Calibri" pitchFamily="34" charset="0"/>
                <a:ea typeface="Calibri" pitchFamily="34" charset="-122"/>
                <a:cs typeface="Calibri" pitchFamily="34" charset="-120"/>
              </a:rPr>
              <a:t>AfriMeet AI will function as an AI-powered meeting intelligence platform operating in two modes:</a:t>
            </a:r>
            <a:endParaRPr lang="en-US" sz="1600" dirty="0"/>
          </a:p>
        </p:txBody>
      </p:sp>
      <p:sp>
        <p:nvSpPr>
          <p:cNvPr id="5" name="Text 3"/>
          <p:cNvSpPr/>
          <p:nvPr/>
        </p:nvSpPr>
        <p:spPr>
          <a:xfrm>
            <a:off x="841248" y="2377440"/>
            <a:ext cx="5071720" cy="365760"/>
          </a:xfrm>
          <a:prstGeom prst="rect">
            <a:avLst/>
          </a:prstGeom>
          <a:noFill/>
          <a:ln/>
        </p:spPr>
        <p:txBody>
          <a:bodyPr wrap="square" rtlCol="0" anchor="ctr"/>
          <a:lstStyle/>
          <a:p>
            <a:pPr indent="0" marL="0">
              <a:buNone/>
            </a:pPr>
            <a:r>
              <a:rPr lang="en-US" sz="1500" b="1" dirty="0">
                <a:solidFill>
                  <a:srgbClr val="3B6E8F"/>
                </a:solidFill>
                <a:latin typeface="Calibri" pitchFamily="34" charset="0"/>
                <a:ea typeface="Calibri" pitchFamily="34" charset="-122"/>
                <a:cs typeface="Calibri" pitchFamily="34" charset="-120"/>
              </a:rPr>
              <a:t>Mode 1 — Standalone Meeting Platform</a:t>
            </a:r>
            <a:endParaRPr lang="en-US" sz="1500" dirty="0"/>
          </a:p>
        </p:txBody>
      </p:sp>
      <p:sp>
        <p:nvSpPr>
          <p:cNvPr id="6" name="Text 4"/>
          <p:cNvSpPr/>
          <p:nvPr/>
        </p:nvSpPr>
        <p:spPr>
          <a:xfrm>
            <a:off x="841248" y="2788920"/>
            <a:ext cx="5071720" cy="2926080"/>
          </a:xfrm>
          <a:prstGeom prst="rect">
            <a:avLst/>
          </a:prstGeom>
          <a:noFill/>
          <a:ln/>
        </p:spPr>
        <p:txBody>
          <a:bodyPr wrap="square" rtlCol="0" anchor="t"/>
          <a:lstStyle/>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Audio and video meetings</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Real-time transcription</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Live multilingual translation</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AI-generated summaries</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Automatic meeting minutes</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Action-item extraction</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Meeting search</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Meeting analytics</a:t>
            </a:r>
            <a:endParaRPr lang="en-US" sz="1300" dirty="0"/>
          </a:p>
        </p:txBody>
      </p:sp>
      <p:sp>
        <p:nvSpPr>
          <p:cNvPr id="7" name="Text 5"/>
          <p:cNvSpPr/>
          <p:nvPr/>
        </p:nvSpPr>
        <p:spPr>
          <a:xfrm>
            <a:off x="6278728" y="2377440"/>
            <a:ext cx="5071720" cy="365760"/>
          </a:xfrm>
          <a:prstGeom prst="rect">
            <a:avLst/>
          </a:prstGeom>
          <a:noFill/>
          <a:ln/>
        </p:spPr>
        <p:txBody>
          <a:bodyPr wrap="square" rtlCol="0" anchor="ctr"/>
          <a:lstStyle/>
          <a:p>
            <a:pPr indent="0" marL="0">
              <a:buNone/>
            </a:pPr>
            <a:r>
              <a:rPr lang="en-US" sz="1500" b="1" dirty="0">
                <a:solidFill>
                  <a:srgbClr val="74875A"/>
                </a:solidFill>
                <a:latin typeface="Calibri" pitchFamily="34" charset="0"/>
                <a:ea typeface="Calibri" pitchFamily="34" charset="-122"/>
                <a:cs typeface="Calibri" pitchFamily="34" charset="-120"/>
              </a:rPr>
              <a:t>Mode 2 — AI Integration Platform</a:t>
            </a:r>
            <a:endParaRPr lang="en-US" sz="1500" dirty="0"/>
          </a:p>
        </p:txBody>
      </p:sp>
      <p:sp>
        <p:nvSpPr>
          <p:cNvPr id="8" name="Text 6"/>
          <p:cNvSpPr/>
          <p:nvPr/>
        </p:nvSpPr>
        <p:spPr>
          <a:xfrm>
            <a:off x="6278728" y="2788920"/>
            <a:ext cx="5071720" cy="320040"/>
          </a:xfrm>
          <a:prstGeom prst="rect">
            <a:avLst/>
          </a:prstGeom>
          <a:noFill/>
          <a:ln/>
        </p:spPr>
        <p:txBody>
          <a:bodyPr wrap="square" rtlCol="0" anchor="ctr"/>
          <a:lstStyle/>
          <a:p>
            <a:pPr indent="0" marL="0">
              <a:buNone/>
            </a:pPr>
            <a:r>
              <a:rPr lang="en-US" sz="1300" i="1" dirty="0">
                <a:solidFill>
                  <a:srgbClr val="2B2B28"/>
                </a:solidFill>
                <a:latin typeface="Calibri" pitchFamily="34" charset="0"/>
                <a:ea typeface="Calibri" pitchFamily="34" charset="-122"/>
                <a:cs typeface="Calibri" pitchFamily="34" charset="-120"/>
              </a:rPr>
              <a:t>Integrates with existing meeting platforms:</a:t>
            </a:r>
            <a:endParaRPr lang="en-US" sz="1300" dirty="0"/>
          </a:p>
        </p:txBody>
      </p:sp>
      <p:sp>
        <p:nvSpPr>
          <p:cNvPr id="9" name="Text 7"/>
          <p:cNvSpPr/>
          <p:nvPr/>
        </p:nvSpPr>
        <p:spPr>
          <a:xfrm>
            <a:off x="6278728" y="3108960"/>
            <a:ext cx="5071720" cy="1371600"/>
          </a:xfrm>
          <a:prstGeom prst="rect">
            <a:avLst/>
          </a:prstGeom>
          <a:noFill/>
          <a:ln/>
        </p:spPr>
        <p:txBody>
          <a:bodyPr wrap="square" rtlCol="0" anchor="t"/>
          <a:lstStyle/>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Zoom</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Microsoft Teams</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Google Meet</a:t>
            </a:r>
            <a:endParaRPr lang="en-US" sz="1300" dirty="0"/>
          </a:p>
          <a:p>
            <a:pPr marL="342900" indent="-342900">
              <a:spcAft>
                <a:spcPts val="600"/>
              </a:spcAft>
              <a:buSzPct val="100000"/>
              <a:buChar char="•"/>
            </a:pPr>
            <a:r>
              <a:rPr lang="en-US" sz="1300" dirty="0">
                <a:solidFill>
                  <a:srgbClr val="2B2B28"/>
                </a:solidFill>
                <a:latin typeface="Calibri" pitchFamily="34" charset="0"/>
                <a:ea typeface="Calibri" pitchFamily="34" charset="-122"/>
                <a:cs typeface="Calibri" pitchFamily="34" charset="-120"/>
              </a:rPr>
              <a:t>Cisco Webex</a:t>
            </a:r>
            <a:endParaRPr lang="en-US" sz="1300" dirty="0"/>
          </a:p>
        </p:txBody>
      </p:sp>
      <p:sp>
        <p:nvSpPr>
          <p:cNvPr id="10" name="Text 8"/>
          <p:cNvSpPr/>
          <p:nvPr/>
        </p:nvSpPr>
        <p:spPr>
          <a:xfrm>
            <a:off x="6278728" y="4526280"/>
            <a:ext cx="5071720" cy="1188720"/>
          </a:xfrm>
          <a:prstGeom prst="rect">
            <a:avLst/>
          </a:prstGeom>
          <a:noFill/>
          <a:ln/>
        </p:spPr>
        <p:txBody>
          <a:bodyPr wrap="square" rtlCol="0" anchor="t"/>
          <a:lstStyle/>
          <a:p>
            <a:pPr indent="0" marL="0">
              <a:buNone/>
            </a:pPr>
            <a:r>
              <a:rPr lang="en-US" sz="1300" i="1" dirty="0">
                <a:solidFill>
                  <a:srgbClr val="2B2B28"/>
                </a:solidFill>
                <a:latin typeface="Calibri" pitchFamily="34" charset="0"/>
                <a:ea typeface="Calibri" pitchFamily="34" charset="-122"/>
                <a:cs typeface="Calibri" pitchFamily="34" charset="-120"/>
              </a:rPr>
              <a:t>The platform joins meetings as an AI assistant, automatically processing conversations without requiring users to change their preferred conferencing platform.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7. Machine Learning Contribution</a:t>
            </a:r>
            <a:endParaRPr lang="en-US" sz="2600" dirty="0"/>
          </a:p>
        </p:txBody>
      </p:sp>
      <p:sp>
        <p:nvSpPr>
          <p:cNvPr id="4" name="Text 2"/>
          <p:cNvSpPr/>
          <p:nvPr/>
        </p:nvSpPr>
        <p:spPr>
          <a:xfrm>
            <a:off x="841248" y="1828800"/>
            <a:ext cx="10509199" cy="1005840"/>
          </a:xfrm>
          <a:prstGeom prst="rect">
            <a:avLst/>
          </a:prstGeom>
          <a:noFill/>
          <a:ln/>
        </p:spPr>
        <p:txBody>
          <a:bodyPr wrap="square" rtlCol="0" anchor="t"/>
          <a:lstStyle/>
          <a:p>
            <a:pPr indent="0" marL="0">
              <a:buNone/>
            </a:pPr>
            <a:r>
              <a:rPr lang="en-US" sz="1600" dirty="0">
                <a:solidFill>
                  <a:srgbClr val="2B2B28"/>
                </a:solidFill>
                <a:latin typeface="Calibri" pitchFamily="34" charset="0"/>
                <a:ea typeface="Calibri" pitchFamily="34" charset="-122"/>
                <a:cs typeface="Calibri" pitchFamily="34" charset="-120"/>
              </a:rPr>
              <a:t>Unlike conventional software projects that merely integrate existing AI services, this project includes an original machine learning contribution through domain adaptation of Whisper. The project will:</a:t>
            </a:r>
            <a:endParaRPr lang="en-US" sz="1600" dirty="0"/>
          </a:p>
        </p:txBody>
      </p:sp>
      <p:sp>
        <p:nvSpPr>
          <p:cNvPr id="5" name="Text 3"/>
          <p:cNvSpPr/>
          <p:nvPr/>
        </p:nvSpPr>
        <p:spPr>
          <a:xfrm>
            <a:off x="841248" y="2926080"/>
            <a:ext cx="10509199" cy="2011680"/>
          </a:xfrm>
          <a:prstGeom prst="rect">
            <a:avLst/>
          </a:prstGeom>
          <a:noFill/>
          <a:ln/>
        </p:spPr>
        <p:txBody>
          <a:bodyPr wrap="square" rtlCol="0" anchor="t"/>
          <a:lstStyle/>
          <a:p>
            <a:pPr marL="342900" indent="-342900">
              <a:spcAft>
                <a:spcPts val="1200"/>
              </a:spcAft>
              <a:buSzPct val="100000"/>
              <a:buChar char="•"/>
            </a:pPr>
            <a:r>
              <a:rPr lang="en-US" sz="1600" dirty="0">
                <a:solidFill>
                  <a:srgbClr val="2B2B28"/>
                </a:solidFill>
                <a:latin typeface="Calibri" pitchFamily="34" charset="0"/>
                <a:ea typeface="Calibri" pitchFamily="34" charset="-122"/>
                <a:cs typeface="Calibri" pitchFamily="34" charset="-120"/>
              </a:rPr>
              <a:t>Train and fine-tune Whisper using multilingual conference speech.</a:t>
            </a:r>
            <a:endParaRPr lang="en-US" sz="1600" dirty="0"/>
          </a:p>
          <a:p>
            <a:pPr marL="342900" indent="-342900">
              <a:spcAft>
                <a:spcPts val="1200"/>
              </a:spcAft>
              <a:buSzPct val="100000"/>
              <a:buChar char="•"/>
            </a:pPr>
            <a:r>
              <a:rPr lang="en-US" sz="1600" dirty="0">
                <a:solidFill>
                  <a:srgbClr val="2B2B28"/>
                </a:solidFill>
                <a:latin typeface="Calibri" pitchFamily="34" charset="0"/>
                <a:ea typeface="Calibri" pitchFamily="34" charset="-122"/>
                <a:cs typeface="Calibri" pitchFamily="34" charset="-120"/>
              </a:rPr>
              <a:t>Compare baseline and fine-tuned models.</a:t>
            </a:r>
            <a:endParaRPr lang="en-US" sz="1600" dirty="0"/>
          </a:p>
          <a:p>
            <a:pPr marL="342900" indent="-342900">
              <a:spcAft>
                <a:spcPts val="1200"/>
              </a:spcAft>
              <a:buSzPct val="100000"/>
              <a:buChar char="•"/>
            </a:pPr>
            <a:r>
              <a:rPr lang="en-US" sz="1600" dirty="0">
                <a:solidFill>
                  <a:srgbClr val="2B2B28"/>
                </a:solidFill>
                <a:latin typeface="Calibri" pitchFamily="34" charset="0"/>
                <a:ea typeface="Calibri" pitchFamily="34" charset="-122"/>
                <a:cs typeface="Calibri" pitchFamily="34" charset="-120"/>
              </a:rPr>
              <a:t>Evaluate transcription improvements.</a:t>
            </a:r>
            <a:endParaRPr lang="en-US" sz="1600" dirty="0"/>
          </a:p>
          <a:p>
            <a:pPr marL="342900" indent="-342900">
              <a:spcAft>
                <a:spcPts val="1200"/>
              </a:spcAft>
              <a:buSzPct val="100000"/>
              <a:buChar char="•"/>
            </a:pPr>
            <a:r>
              <a:rPr lang="en-US" sz="1600" dirty="0">
                <a:solidFill>
                  <a:srgbClr val="2B2B28"/>
                </a:solidFill>
                <a:latin typeface="Calibri" pitchFamily="34" charset="0"/>
                <a:ea typeface="Calibri" pitchFamily="34" charset="-122"/>
                <a:cs typeface="Calibri" pitchFamily="34" charset="-120"/>
              </a:rPr>
              <a:t>Deploy the improved model within a real-world application.</a:t>
            </a:r>
            <a:endParaRPr lang="en-US" sz="1600" dirty="0"/>
          </a:p>
        </p:txBody>
      </p:sp>
      <p:sp>
        <p:nvSpPr>
          <p:cNvPr id="6" name="Shape 4"/>
          <p:cNvSpPr/>
          <p:nvPr/>
        </p:nvSpPr>
        <p:spPr>
          <a:xfrm>
            <a:off x="841248" y="5166360"/>
            <a:ext cx="10509199" cy="685800"/>
          </a:xfrm>
          <a:prstGeom prst="roundRect">
            <a:avLst>
              <a:gd name="adj" fmla="val 13333"/>
            </a:avLst>
          </a:prstGeom>
          <a:solidFill>
            <a:srgbClr val="E4EDF2"/>
          </a:solidFill>
          <a:ln/>
        </p:spPr>
      </p:sp>
      <p:sp>
        <p:nvSpPr>
          <p:cNvPr id="7" name="Text 5"/>
          <p:cNvSpPr/>
          <p:nvPr/>
        </p:nvSpPr>
        <p:spPr>
          <a:xfrm>
            <a:off x="1069848" y="5166360"/>
            <a:ext cx="10051999" cy="685800"/>
          </a:xfrm>
          <a:prstGeom prst="rect">
            <a:avLst/>
          </a:prstGeom>
          <a:noFill/>
          <a:ln/>
        </p:spPr>
        <p:txBody>
          <a:bodyPr wrap="square" rtlCol="0" anchor="ctr"/>
          <a:lstStyle/>
          <a:p>
            <a:pPr indent="0" marL="0">
              <a:buNone/>
            </a:pPr>
            <a:r>
              <a:rPr lang="en-US" sz="1350" i="1" dirty="0">
                <a:solidFill>
                  <a:srgbClr val="2B2B28"/>
                </a:solidFill>
                <a:latin typeface="Calibri" pitchFamily="34" charset="0"/>
                <a:ea typeface="Calibri" pitchFamily="34" charset="-122"/>
                <a:cs typeface="Calibri" pitchFamily="34" charset="-120"/>
              </a:rPr>
              <a:t>This aligns with the complete Data Science workflow of problem definition, data preparation, modeling, evaluation, and deployment.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8</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8. Dataset</a:t>
            </a:r>
            <a:endParaRPr lang="en-US" sz="2600" dirty="0"/>
          </a:p>
        </p:txBody>
      </p:sp>
      <p:sp>
        <p:nvSpPr>
          <p:cNvPr id="4" name="Text 2"/>
          <p:cNvSpPr/>
          <p:nvPr/>
        </p:nvSpPr>
        <p:spPr>
          <a:xfrm>
            <a:off x="841248" y="1828800"/>
            <a:ext cx="5071720" cy="365760"/>
          </a:xfrm>
          <a:prstGeom prst="rect">
            <a:avLst/>
          </a:prstGeom>
          <a:noFill/>
          <a:ln/>
        </p:spPr>
        <p:txBody>
          <a:bodyPr wrap="square" rtlCol="0" anchor="ctr"/>
          <a:lstStyle/>
          <a:p>
            <a:pPr indent="0" marL="0">
              <a:buNone/>
            </a:pPr>
            <a:r>
              <a:rPr lang="en-US" sz="1600" b="1" dirty="0">
                <a:solidFill>
                  <a:srgbClr val="3B6E8F"/>
                </a:solidFill>
                <a:latin typeface="Calibri" pitchFamily="34" charset="0"/>
                <a:ea typeface="Calibri" pitchFamily="34" charset="-122"/>
                <a:cs typeface="Calibri" pitchFamily="34" charset="-120"/>
              </a:rPr>
              <a:t>Public Datasets</a:t>
            </a:r>
            <a:endParaRPr lang="en-US" sz="1600" dirty="0"/>
          </a:p>
        </p:txBody>
      </p:sp>
      <p:sp>
        <p:nvSpPr>
          <p:cNvPr id="5" name="Text 3"/>
          <p:cNvSpPr/>
          <p:nvPr/>
        </p:nvSpPr>
        <p:spPr>
          <a:xfrm>
            <a:off x="841248" y="2286000"/>
            <a:ext cx="5071720" cy="2011680"/>
          </a:xfrm>
          <a:prstGeom prst="rect">
            <a:avLst/>
          </a:prstGeom>
          <a:noFill/>
          <a:ln/>
        </p:spPr>
        <p:txBody>
          <a:bodyPr wrap="square" rtlCol="0" anchor="t"/>
          <a:lstStyle/>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Mozilla Common Voice (Swahili)</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Google FLEURS</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VoxPopuli</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Multilingual LibriSpeech</a:t>
            </a:r>
            <a:endParaRPr lang="en-US" sz="1500" dirty="0"/>
          </a:p>
        </p:txBody>
      </p:sp>
      <p:sp>
        <p:nvSpPr>
          <p:cNvPr id="6" name="Text 4"/>
          <p:cNvSpPr/>
          <p:nvPr/>
        </p:nvSpPr>
        <p:spPr>
          <a:xfrm>
            <a:off x="6278728" y="1828800"/>
            <a:ext cx="5071720" cy="365760"/>
          </a:xfrm>
          <a:prstGeom prst="rect">
            <a:avLst/>
          </a:prstGeom>
          <a:noFill/>
          <a:ln/>
        </p:spPr>
        <p:txBody>
          <a:bodyPr wrap="square" rtlCol="0" anchor="ctr"/>
          <a:lstStyle/>
          <a:p>
            <a:pPr indent="0" marL="0">
              <a:buNone/>
            </a:pPr>
            <a:r>
              <a:rPr lang="en-US" sz="1600" b="1" dirty="0">
                <a:solidFill>
                  <a:srgbClr val="74875A"/>
                </a:solidFill>
                <a:latin typeface="Calibri" pitchFamily="34" charset="0"/>
                <a:ea typeface="Calibri" pitchFamily="34" charset="-122"/>
                <a:cs typeface="Calibri" pitchFamily="34" charset="-120"/>
              </a:rPr>
              <a:t>Custom Dataset</a:t>
            </a:r>
            <a:endParaRPr lang="en-US" sz="1600" dirty="0"/>
          </a:p>
        </p:txBody>
      </p:sp>
      <p:sp>
        <p:nvSpPr>
          <p:cNvPr id="7" name="Text 5"/>
          <p:cNvSpPr/>
          <p:nvPr/>
        </p:nvSpPr>
        <p:spPr>
          <a:xfrm>
            <a:off x="6278728" y="2286000"/>
            <a:ext cx="5071720" cy="320040"/>
          </a:xfrm>
          <a:prstGeom prst="rect">
            <a:avLst/>
          </a:prstGeom>
          <a:noFill/>
          <a:ln/>
        </p:spPr>
        <p:txBody>
          <a:bodyPr wrap="square" rtlCol="0" anchor="ctr"/>
          <a:lstStyle/>
          <a:p>
            <a:pPr indent="0" marL="0">
              <a:buNone/>
            </a:pPr>
            <a:r>
              <a:rPr lang="en-US" sz="1300" i="1" dirty="0">
                <a:solidFill>
                  <a:srgbClr val="2B2B28"/>
                </a:solidFill>
                <a:latin typeface="Calibri" pitchFamily="34" charset="0"/>
                <a:ea typeface="Calibri" pitchFamily="34" charset="-122"/>
                <a:cs typeface="Calibri" pitchFamily="34" charset="-120"/>
              </a:rPr>
              <a:t>Conference recordings collected from:</a:t>
            </a:r>
            <a:endParaRPr lang="en-US" sz="1300" dirty="0"/>
          </a:p>
        </p:txBody>
      </p:sp>
      <p:sp>
        <p:nvSpPr>
          <p:cNvPr id="8" name="Text 6"/>
          <p:cNvSpPr/>
          <p:nvPr/>
        </p:nvSpPr>
        <p:spPr>
          <a:xfrm>
            <a:off x="6278728" y="2651760"/>
            <a:ext cx="5071720" cy="1828800"/>
          </a:xfrm>
          <a:prstGeom prst="rect">
            <a:avLst/>
          </a:prstGeom>
          <a:noFill/>
          <a:ln/>
        </p:spPr>
        <p:txBody>
          <a:bodyPr wrap="square" rtlCol="0" anchor="t"/>
          <a:lstStyle/>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Academic presentations</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Institutional meetings</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Public speeches</a:t>
            </a:r>
            <a:endParaRPr lang="en-US" sz="1500" dirty="0"/>
          </a:p>
          <a:p>
            <a:pPr marL="342900" indent="-342900">
              <a:spcAft>
                <a:spcPts val="1000"/>
              </a:spcAft>
              <a:buSzPct val="100000"/>
              <a:buChar char="•"/>
            </a:pPr>
            <a:r>
              <a:rPr lang="en-US" sz="1500" dirty="0">
                <a:solidFill>
                  <a:srgbClr val="2B2B28"/>
                </a:solidFill>
                <a:latin typeface="Calibri" pitchFamily="34" charset="0"/>
                <a:ea typeface="Calibri" pitchFamily="34" charset="-122"/>
                <a:cs typeface="Calibri" pitchFamily="34" charset="-120"/>
              </a:rPr>
              <a:t>Simulated multilingual meetings</a:t>
            </a:r>
            <a:endParaRPr lang="en-US" sz="1500" dirty="0"/>
          </a:p>
        </p:txBody>
      </p:sp>
      <p:sp>
        <p:nvSpPr>
          <p:cNvPr id="9" name="Shape 7"/>
          <p:cNvSpPr/>
          <p:nvPr/>
        </p:nvSpPr>
        <p:spPr>
          <a:xfrm>
            <a:off x="841248" y="4846320"/>
            <a:ext cx="10509199" cy="777240"/>
          </a:xfrm>
          <a:prstGeom prst="roundRect">
            <a:avLst>
              <a:gd name="adj" fmla="val 11765"/>
            </a:avLst>
          </a:prstGeom>
          <a:solidFill>
            <a:srgbClr val="E4EDF2"/>
          </a:solidFill>
          <a:ln/>
        </p:spPr>
      </p:sp>
      <p:sp>
        <p:nvSpPr>
          <p:cNvPr id="10" name="Text 8"/>
          <p:cNvSpPr/>
          <p:nvPr/>
        </p:nvSpPr>
        <p:spPr>
          <a:xfrm>
            <a:off x="1069848" y="4846320"/>
            <a:ext cx="10051999" cy="777240"/>
          </a:xfrm>
          <a:prstGeom prst="rect">
            <a:avLst/>
          </a:prstGeom>
          <a:noFill/>
          <a:ln/>
        </p:spPr>
        <p:txBody>
          <a:bodyPr wrap="square" rtlCol="0" anchor="ctr"/>
          <a:lstStyle/>
          <a:p>
            <a:pPr indent="0" marL="0">
              <a:buNone/>
            </a:pPr>
            <a:r>
              <a:rPr lang="en-US" sz="1400" i="1" dirty="0">
                <a:solidFill>
                  <a:srgbClr val="2B2B28"/>
                </a:solidFill>
                <a:latin typeface="Calibri" pitchFamily="34" charset="0"/>
                <a:ea typeface="Calibri" pitchFamily="34" charset="-122"/>
                <a:cs typeface="Calibri" pitchFamily="34" charset="-120"/>
              </a:rPr>
              <a:t>The dataset will be cleaned, segmented, transcribed, and prepared for model training.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9. Methodology</a:t>
            </a:r>
            <a:endParaRPr lang="en-US" sz="2600" dirty="0"/>
          </a:p>
        </p:txBody>
      </p:sp>
      <p:sp>
        <p:nvSpPr>
          <p:cNvPr id="4" name="Text 2"/>
          <p:cNvSpPr/>
          <p:nvPr/>
        </p:nvSpPr>
        <p:spPr>
          <a:xfrm>
            <a:off x="841248" y="1828800"/>
            <a:ext cx="10509199" cy="320040"/>
          </a:xfrm>
          <a:prstGeom prst="rect">
            <a:avLst/>
          </a:prstGeom>
          <a:noFill/>
          <a:ln/>
        </p:spPr>
        <p:txBody>
          <a:bodyPr wrap="square" rtlCol="0" anchor="ctr"/>
          <a:lstStyle/>
          <a:p>
            <a:pPr indent="0" marL="0">
              <a:buNone/>
            </a:pPr>
            <a:r>
              <a:rPr lang="en-US" sz="1350" i="1" dirty="0">
                <a:solidFill>
                  <a:srgbClr val="2B2B28"/>
                </a:solidFill>
                <a:latin typeface="Calibri" pitchFamily="34" charset="0"/>
                <a:ea typeface="Calibri" pitchFamily="34" charset="-122"/>
                <a:cs typeface="Calibri" pitchFamily="34" charset="-120"/>
              </a:rPr>
              <a:t>The project follows the complete Data Science workflow.</a:t>
            </a:r>
            <a:endParaRPr lang="en-US" sz="1350" dirty="0"/>
          </a:p>
        </p:txBody>
      </p:sp>
      <p:sp>
        <p:nvSpPr>
          <p:cNvPr id="5" name="Shape 3"/>
          <p:cNvSpPr/>
          <p:nvPr/>
        </p:nvSpPr>
        <p:spPr>
          <a:xfrm>
            <a:off x="841248" y="2240280"/>
            <a:ext cx="3381146" cy="1783080"/>
          </a:xfrm>
          <a:prstGeom prst="roundRect">
            <a:avLst>
              <a:gd name="adj" fmla="val 4103"/>
            </a:avLst>
          </a:prstGeom>
          <a:solidFill>
            <a:srgbClr val="FFFFFF"/>
          </a:solidFill>
          <a:ln w="9525">
            <a:solidFill>
              <a:srgbClr val="E0DCD0"/>
            </a:solidFill>
            <a:prstDash val="solid"/>
          </a:ln>
        </p:spPr>
      </p:sp>
      <p:sp>
        <p:nvSpPr>
          <p:cNvPr id="6" name="Text 4"/>
          <p:cNvSpPr/>
          <p:nvPr/>
        </p:nvSpPr>
        <p:spPr>
          <a:xfrm>
            <a:off x="978408" y="235000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1: Problem Definition</a:t>
            </a:r>
            <a:endParaRPr lang="en-US" sz="1250" dirty="0"/>
          </a:p>
        </p:txBody>
      </p:sp>
      <p:sp>
        <p:nvSpPr>
          <p:cNvPr id="7" name="Text 5"/>
          <p:cNvSpPr/>
          <p:nvPr/>
        </p:nvSpPr>
        <p:spPr>
          <a:xfrm>
            <a:off x="978408" y="280720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Identify communication challenges</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Define research objectives</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Identify users</a:t>
            </a:r>
            <a:endParaRPr lang="en-US" sz="1050" dirty="0"/>
          </a:p>
        </p:txBody>
      </p:sp>
      <p:sp>
        <p:nvSpPr>
          <p:cNvPr id="8" name="Shape 6"/>
          <p:cNvSpPr/>
          <p:nvPr/>
        </p:nvSpPr>
        <p:spPr>
          <a:xfrm>
            <a:off x="4405274" y="2240280"/>
            <a:ext cx="3381146" cy="1783080"/>
          </a:xfrm>
          <a:prstGeom prst="roundRect">
            <a:avLst>
              <a:gd name="adj" fmla="val 4103"/>
            </a:avLst>
          </a:prstGeom>
          <a:solidFill>
            <a:srgbClr val="FFFFFF"/>
          </a:solidFill>
          <a:ln w="9525">
            <a:solidFill>
              <a:srgbClr val="E0DCD0"/>
            </a:solidFill>
            <a:prstDash val="solid"/>
          </a:ln>
        </p:spPr>
      </p:sp>
      <p:sp>
        <p:nvSpPr>
          <p:cNvPr id="9" name="Text 7"/>
          <p:cNvSpPr/>
          <p:nvPr/>
        </p:nvSpPr>
        <p:spPr>
          <a:xfrm>
            <a:off x="4542434" y="235000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2: Data Collection &amp; Prep</a:t>
            </a:r>
            <a:endParaRPr lang="en-US" sz="1250" dirty="0"/>
          </a:p>
        </p:txBody>
      </p:sp>
      <p:sp>
        <p:nvSpPr>
          <p:cNvPr id="10" name="Text 8"/>
          <p:cNvSpPr/>
          <p:nvPr/>
        </p:nvSpPr>
        <p:spPr>
          <a:xfrm>
            <a:off x="4542434" y="280720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Collect multilingual speech</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Clean transcripts, remove noise</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Segment &amp; prepare datasets</a:t>
            </a:r>
            <a:endParaRPr lang="en-US" sz="1050" dirty="0"/>
          </a:p>
        </p:txBody>
      </p:sp>
      <p:sp>
        <p:nvSpPr>
          <p:cNvPr id="11" name="Shape 9"/>
          <p:cNvSpPr/>
          <p:nvPr/>
        </p:nvSpPr>
        <p:spPr>
          <a:xfrm>
            <a:off x="7969301" y="2240280"/>
            <a:ext cx="3381146" cy="1783080"/>
          </a:xfrm>
          <a:prstGeom prst="roundRect">
            <a:avLst>
              <a:gd name="adj" fmla="val 4103"/>
            </a:avLst>
          </a:prstGeom>
          <a:solidFill>
            <a:srgbClr val="FFFFFF"/>
          </a:solidFill>
          <a:ln w="9525">
            <a:solidFill>
              <a:srgbClr val="E0DCD0"/>
            </a:solidFill>
            <a:prstDash val="solid"/>
          </a:ln>
        </p:spPr>
      </p:sp>
      <p:sp>
        <p:nvSpPr>
          <p:cNvPr id="12" name="Text 10"/>
          <p:cNvSpPr/>
          <p:nvPr/>
        </p:nvSpPr>
        <p:spPr>
          <a:xfrm>
            <a:off x="8106461" y="235000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3: Baseline Modeling</a:t>
            </a:r>
            <a:endParaRPr lang="en-US" sz="1250" dirty="0"/>
          </a:p>
        </p:txBody>
      </p:sp>
      <p:sp>
        <p:nvSpPr>
          <p:cNvPr id="13" name="Text 11"/>
          <p:cNvSpPr/>
          <p:nvPr/>
        </p:nvSpPr>
        <p:spPr>
          <a:xfrm>
            <a:off x="8106461" y="280720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Evaluate original Whisper</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Metrics: WER, CER</a:t>
            </a:r>
            <a:endParaRPr lang="en-US" sz="1050" dirty="0"/>
          </a:p>
        </p:txBody>
      </p:sp>
      <p:sp>
        <p:nvSpPr>
          <p:cNvPr id="14" name="Shape 12"/>
          <p:cNvSpPr/>
          <p:nvPr/>
        </p:nvSpPr>
        <p:spPr>
          <a:xfrm>
            <a:off x="841248" y="4206240"/>
            <a:ext cx="3381146" cy="1783080"/>
          </a:xfrm>
          <a:prstGeom prst="roundRect">
            <a:avLst>
              <a:gd name="adj" fmla="val 4103"/>
            </a:avLst>
          </a:prstGeom>
          <a:solidFill>
            <a:srgbClr val="FFFFFF"/>
          </a:solidFill>
          <a:ln w="9525">
            <a:solidFill>
              <a:srgbClr val="E0DCD0"/>
            </a:solidFill>
            <a:prstDash val="solid"/>
          </a:ln>
        </p:spPr>
      </p:sp>
      <p:sp>
        <p:nvSpPr>
          <p:cNvPr id="15" name="Text 13"/>
          <p:cNvSpPr/>
          <p:nvPr/>
        </p:nvSpPr>
        <p:spPr>
          <a:xfrm>
            <a:off x="978408" y="431596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4: Model Improvement</a:t>
            </a:r>
            <a:endParaRPr lang="en-US" sz="1250" dirty="0"/>
          </a:p>
        </p:txBody>
      </p:sp>
      <p:sp>
        <p:nvSpPr>
          <p:cNvPr id="16" name="Text 14"/>
          <p:cNvSpPr/>
          <p:nvPr/>
        </p:nvSpPr>
        <p:spPr>
          <a:xfrm>
            <a:off x="978408" y="477316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Fine-tune Whisper on conference speech</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Optimize LR, batch size, epochs, tokenization</a:t>
            </a:r>
            <a:endParaRPr lang="en-US" sz="1050" dirty="0"/>
          </a:p>
        </p:txBody>
      </p:sp>
      <p:sp>
        <p:nvSpPr>
          <p:cNvPr id="17" name="Shape 15"/>
          <p:cNvSpPr/>
          <p:nvPr/>
        </p:nvSpPr>
        <p:spPr>
          <a:xfrm>
            <a:off x="4405274" y="4206240"/>
            <a:ext cx="3381146" cy="1783080"/>
          </a:xfrm>
          <a:prstGeom prst="roundRect">
            <a:avLst>
              <a:gd name="adj" fmla="val 4103"/>
            </a:avLst>
          </a:prstGeom>
          <a:solidFill>
            <a:srgbClr val="FFFFFF"/>
          </a:solidFill>
          <a:ln w="9525">
            <a:solidFill>
              <a:srgbClr val="E0DCD0"/>
            </a:solidFill>
            <a:prstDash val="solid"/>
          </a:ln>
        </p:spPr>
      </p:sp>
      <p:sp>
        <p:nvSpPr>
          <p:cNvPr id="18" name="Text 16"/>
          <p:cNvSpPr/>
          <p:nvPr/>
        </p:nvSpPr>
        <p:spPr>
          <a:xfrm>
            <a:off x="4542434" y="431596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5: Model Evaluation</a:t>
            </a:r>
            <a:endParaRPr lang="en-US" sz="1250" dirty="0"/>
          </a:p>
        </p:txBody>
      </p:sp>
      <p:sp>
        <p:nvSpPr>
          <p:cNvPr id="19" name="Text 17"/>
          <p:cNvSpPr/>
          <p:nvPr/>
        </p:nvSpPr>
        <p:spPr>
          <a:xfrm>
            <a:off x="4542434" y="477316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Compare original vs. fine-tuned</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Metrics: WER, CER, BLEU, ROUGE, latency</a:t>
            </a:r>
            <a:endParaRPr lang="en-US" sz="1050" dirty="0"/>
          </a:p>
        </p:txBody>
      </p:sp>
      <p:sp>
        <p:nvSpPr>
          <p:cNvPr id="20" name="Shape 18"/>
          <p:cNvSpPr/>
          <p:nvPr/>
        </p:nvSpPr>
        <p:spPr>
          <a:xfrm>
            <a:off x="7969301" y="4206240"/>
            <a:ext cx="3381146" cy="1783080"/>
          </a:xfrm>
          <a:prstGeom prst="roundRect">
            <a:avLst>
              <a:gd name="adj" fmla="val 4103"/>
            </a:avLst>
          </a:prstGeom>
          <a:solidFill>
            <a:srgbClr val="FFFFFF"/>
          </a:solidFill>
          <a:ln w="9525">
            <a:solidFill>
              <a:srgbClr val="E0DCD0"/>
            </a:solidFill>
            <a:prstDash val="solid"/>
          </a:ln>
        </p:spPr>
      </p:sp>
      <p:sp>
        <p:nvSpPr>
          <p:cNvPr id="21" name="Text 19"/>
          <p:cNvSpPr/>
          <p:nvPr/>
        </p:nvSpPr>
        <p:spPr>
          <a:xfrm>
            <a:off x="8106461" y="4315968"/>
            <a:ext cx="3106826" cy="457200"/>
          </a:xfrm>
          <a:prstGeom prst="rect">
            <a:avLst/>
          </a:prstGeom>
          <a:noFill/>
          <a:ln/>
        </p:spPr>
        <p:txBody>
          <a:bodyPr wrap="square" rtlCol="0" anchor="t"/>
          <a:lstStyle/>
          <a:p>
            <a:pPr indent="0" marL="0">
              <a:buNone/>
            </a:pPr>
            <a:r>
              <a:rPr lang="en-US" sz="1250" b="1" dirty="0">
                <a:solidFill>
                  <a:srgbClr val="3B6E8F"/>
                </a:solidFill>
                <a:latin typeface="Calibri" pitchFamily="34" charset="0"/>
                <a:ea typeface="Calibri" pitchFamily="34" charset="-122"/>
                <a:cs typeface="Calibri" pitchFamily="34" charset="-120"/>
              </a:rPr>
              <a:t>Phase 6: Deployment</a:t>
            </a:r>
            <a:endParaRPr lang="en-US" sz="1250" dirty="0"/>
          </a:p>
        </p:txBody>
      </p:sp>
      <p:sp>
        <p:nvSpPr>
          <p:cNvPr id="22" name="Text 20"/>
          <p:cNvSpPr/>
          <p:nvPr/>
        </p:nvSpPr>
        <p:spPr>
          <a:xfrm>
            <a:off x="8106461" y="4773168"/>
            <a:ext cx="3106826" cy="1143000"/>
          </a:xfrm>
          <a:prstGeom prst="rect">
            <a:avLst/>
          </a:prstGeom>
          <a:noFill/>
          <a:ln/>
        </p:spPr>
        <p:txBody>
          <a:bodyPr wrap="square" rtlCol="0" anchor="t"/>
          <a:lstStyle/>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REST API</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Web application</a:t>
            </a:r>
            <a:endParaRPr lang="en-US" sz="1050" dirty="0"/>
          </a:p>
          <a:p>
            <a:pPr marL="342900" indent="-342900">
              <a:spcAft>
                <a:spcPts val="400"/>
              </a:spcAft>
              <a:buSzPct val="100000"/>
              <a:buChar char="•"/>
            </a:pPr>
            <a:r>
              <a:rPr lang="en-US" sz="1050" dirty="0">
                <a:solidFill>
                  <a:srgbClr val="2B2B28"/>
                </a:solidFill>
                <a:latin typeface="Calibri" pitchFamily="34" charset="0"/>
                <a:ea typeface="Calibri" pitchFamily="34" charset="-122"/>
                <a:cs typeface="Calibri" pitchFamily="34" charset="-120"/>
              </a:rPr>
              <a:t>Live meeting demonstration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10. Proposed System Architecture</a:t>
            </a:r>
            <a:endParaRPr lang="en-US" sz="2600" dirty="0"/>
          </a:p>
        </p:txBody>
      </p:sp>
      <p:sp>
        <p:nvSpPr>
          <p:cNvPr id="4" name="Shape 2"/>
          <p:cNvSpPr/>
          <p:nvPr/>
        </p:nvSpPr>
        <p:spPr>
          <a:xfrm>
            <a:off x="4175608" y="1554480"/>
            <a:ext cx="3840480" cy="384048"/>
          </a:xfrm>
          <a:prstGeom prst="roundRect">
            <a:avLst>
              <a:gd name="adj" fmla="val 14286"/>
            </a:avLst>
          </a:prstGeom>
          <a:solidFill>
            <a:srgbClr val="E4EDF2"/>
          </a:solidFill>
          <a:ln/>
        </p:spPr>
      </p:sp>
      <p:sp>
        <p:nvSpPr>
          <p:cNvPr id="5" name="Text 3"/>
          <p:cNvSpPr/>
          <p:nvPr/>
        </p:nvSpPr>
        <p:spPr>
          <a:xfrm>
            <a:off x="4175608" y="1554480"/>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Meeting Audio</a:t>
            </a:r>
            <a:endParaRPr lang="en-US" sz="1250" dirty="0"/>
          </a:p>
        </p:txBody>
      </p:sp>
      <p:sp>
        <p:nvSpPr>
          <p:cNvPr id="6" name="Text 4"/>
          <p:cNvSpPr/>
          <p:nvPr/>
        </p:nvSpPr>
        <p:spPr>
          <a:xfrm>
            <a:off x="4175608" y="1938528"/>
            <a:ext cx="3840480" cy="123444"/>
          </a:xfrm>
          <a:prstGeom prst="rect">
            <a:avLst/>
          </a:prstGeom>
          <a:noFill/>
          <a:ln/>
        </p:spPr>
        <p:txBody>
          <a:bodyPr wrap="square" rtlCol="0" anchor="ctr"/>
          <a:lstStyle/>
          <a:p>
            <a:pPr algn="ctr" indent="0" marL="0">
              <a:buNone/>
            </a:pPr>
            <a:r>
              <a:rPr lang="en-US" sz="900" dirty="0">
                <a:solidFill>
                  <a:srgbClr val="5C7A8A"/>
                </a:solidFill>
                <a:latin typeface="Calibri" pitchFamily="34" charset="0"/>
                <a:ea typeface="Calibri" pitchFamily="34" charset="-122"/>
                <a:cs typeface="Calibri" pitchFamily="34" charset="-120"/>
              </a:rPr>
              <a:t>▼</a:t>
            </a:r>
            <a:endParaRPr lang="en-US" sz="900" dirty="0"/>
          </a:p>
        </p:txBody>
      </p:sp>
      <p:sp>
        <p:nvSpPr>
          <p:cNvPr id="7" name="Shape 5"/>
          <p:cNvSpPr/>
          <p:nvPr/>
        </p:nvSpPr>
        <p:spPr>
          <a:xfrm>
            <a:off x="4175608" y="2061972"/>
            <a:ext cx="3840480" cy="384048"/>
          </a:xfrm>
          <a:prstGeom prst="roundRect">
            <a:avLst>
              <a:gd name="adj" fmla="val 14286"/>
            </a:avLst>
          </a:prstGeom>
          <a:solidFill>
            <a:srgbClr val="E4EDF2"/>
          </a:solidFill>
          <a:ln/>
        </p:spPr>
      </p:sp>
      <p:sp>
        <p:nvSpPr>
          <p:cNvPr id="8" name="Text 6"/>
          <p:cNvSpPr/>
          <p:nvPr/>
        </p:nvSpPr>
        <p:spPr>
          <a:xfrm>
            <a:off x="4175608" y="2061972"/>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Fine-tuned Whisper ASR</a:t>
            </a:r>
            <a:endParaRPr lang="en-US" sz="1250" dirty="0"/>
          </a:p>
        </p:txBody>
      </p:sp>
      <p:sp>
        <p:nvSpPr>
          <p:cNvPr id="9" name="Text 7"/>
          <p:cNvSpPr/>
          <p:nvPr/>
        </p:nvSpPr>
        <p:spPr>
          <a:xfrm>
            <a:off x="4175608" y="2446020"/>
            <a:ext cx="3840480" cy="123444"/>
          </a:xfrm>
          <a:prstGeom prst="rect">
            <a:avLst/>
          </a:prstGeom>
          <a:noFill/>
          <a:ln/>
        </p:spPr>
        <p:txBody>
          <a:bodyPr wrap="square" rtlCol="0" anchor="ctr"/>
          <a:lstStyle/>
          <a:p>
            <a:pPr algn="ctr" indent="0" marL="0">
              <a:buNone/>
            </a:pPr>
            <a:r>
              <a:rPr lang="en-US" sz="900" dirty="0">
                <a:solidFill>
                  <a:srgbClr val="5C7A8A"/>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4175608" y="2569464"/>
            <a:ext cx="3840480" cy="384048"/>
          </a:xfrm>
          <a:prstGeom prst="roundRect">
            <a:avLst>
              <a:gd name="adj" fmla="val 14286"/>
            </a:avLst>
          </a:prstGeom>
          <a:solidFill>
            <a:srgbClr val="E4EDF2"/>
          </a:solidFill>
          <a:ln/>
        </p:spPr>
      </p:sp>
      <p:sp>
        <p:nvSpPr>
          <p:cNvPr id="11" name="Text 9"/>
          <p:cNvSpPr/>
          <p:nvPr/>
        </p:nvSpPr>
        <p:spPr>
          <a:xfrm>
            <a:off x="4175608" y="2569464"/>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Speaker Diarization</a:t>
            </a:r>
            <a:endParaRPr lang="en-US" sz="1250" dirty="0"/>
          </a:p>
        </p:txBody>
      </p:sp>
      <p:sp>
        <p:nvSpPr>
          <p:cNvPr id="12" name="Text 10"/>
          <p:cNvSpPr/>
          <p:nvPr/>
        </p:nvSpPr>
        <p:spPr>
          <a:xfrm>
            <a:off x="4175608" y="2953512"/>
            <a:ext cx="3840480" cy="123444"/>
          </a:xfrm>
          <a:prstGeom prst="rect">
            <a:avLst/>
          </a:prstGeom>
          <a:noFill/>
          <a:ln/>
        </p:spPr>
        <p:txBody>
          <a:bodyPr wrap="square" rtlCol="0" anchor="ctr"/>
          <a:lstStyle/>
          <a:p>
            <a:pPr algn="ctr" indent="0" marL="0">
              <a:buNone/>
            </a:pPr>
            <a:r>
              <a:rPr lang="en-US" sz="900" dirty="0">
                <a:solidFill>
                  <a:srgbClr val="5C7A8A"/>
                </a:solidFill>
                <a:latin typeface="Calibri" pitchFamily="34" charset="0"/>
                <a:ea typeface="Calibri" pitchFamily="34" charset="-122"/>
                <a:cs typeface="Calibri" pitchFamily="34" charset="-120"/>
              </a:rPr>
              <a:t>▼</a:t>
            </a:r>
            <a:endParaRPr lang="en-US" sz="900" dirty="0"/>
          </a:p>
        </p:txBody>
      </p:sp>
      <p:sp>
        <p:nvSpPr>
          <p:cNvPr id="13" name="Shape 11"/>
          <p:cNvSpPr/>
          <p:nvPr/>
        </p:nvSpPr>
        <p:spPr>
          <a:xfrm>
            <a:off x="4175608" y="3076956"/>
            <a:ext cx="3840480" cy="384048"/>
          </a:xfrm>
          <a:prstGeom prst="roundRect">
            <a:avLst>
              <a:gd name="adj" fmla="val 14286"/>
            </a:avLst>
          </a:prstGeom>
          <a:solidFill>
            <a:srgbClr val="E4EDF2"/>
          </a:solidFill>
          <a:ln/>
        </p:spPr>
      </p:sp>
      <p:sp>
        <p:nvSpPr>
          <p:cNvPr id="14" name="Text 12"/>
          <p:cNvSpPr/>
          <p:nvPr/>
        </p:nvSpPr>
        <p:spPr>
          <a:xfrm>
            <a:off x="4175608" y="3076956"/>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Language Identification</a:t>
            </a:r>
            <a:endParaRPr lang="en-US" sz="1250" dirty="0"/>
          </a:p>
        </p:txBody>
      </p:sp>
      <p:sp>
        <p:nvSpPr>
          <p:cNvPr id="15" name="Text 13"/>
          <p:cNvSpPr/>
          <p:nvPr/>
        </p:nvSpPr>
        <p:spPr>
          <a:xfrm>
            <a:off x="4175608" y="3461004"/>
            <a:ext cx="3840480" cy="123444"/>
          </a:xfrm>
          <a:prstGeom prst="rect">
            <a:avLst/>
          </a:prstGeom>
          <a:noFill/>
          <a:ln/>
        </p:spPr>
        <p:txBody>
          <a:bodyPr wrap="square" rtlCol="0" anchor="ctr"/>
          <a:lstStyle/>
          <a:p>
            <a:pPr algn="ctr" indent="0" marL="0">
              <a:buNone/>
            </a:pPr>
            <a:r>
              <a:rPr lang="en-US" sz="900" dirty="0">
                <a:solidFill>
                  <a:srgbClr val="5C7A8A"/>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4175608" y="3584448"/>
            <a:ext cx="3840480" cy="384048"/>
          </a:xfrm>
          <a:prstGeom prst="roundRect">
            <a:avLst>
              <a:gd name="adj" fmla="val 14286"/>
            </a:avLst>
          </a:prstGeom>
          <a:solidFill>
            <a:srgbClr val="E4EDF2"/>
          </a:solidFill>
          <a:ln/>
        </p:spPr>
      </p:sp>
      <p:sp>
        <p:nvSpPr>
          <p:cNvPr id="17" name="Text 15"/>
          <p:cNvSpPr/>
          <p:nvPr/>
        </p:nvSpPr>
        <p:spPr>
          <a:xfrm>
            <a:off x="4175608" y="3584448"/>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Neural Machine Translation</a:t>
            </a:r>
            <a:endParaRPr lang="en-US" sz="1250" dirty="0"/>
          </a:p>
        </p:txBody>
      </p:sp>
      <p:sp>
        <p:nvSpPr>
          <p:cNvPr id="18" name="Text 16"/>
          <p:cNvSpPr/>
          <p:nvPr/>
        </p:nvSpPr>
        <p:spPr>
          <a:xfrm>
            <a:off x="4175608" y="3968496"/>
            <a:ext cx="3840480" cy="123444"/>
          </a:xfrm>
          <a:prstGeom prst="rect">
            <a:avLst/>
          </a:prstGeom>
          <a:noFill/>
          <a:ln/>
        </p:spPr>
        <p:txBody>
          <a:bodyPr wrap="square" rtlCol="0" anchor="ctr"/>
          <a:lstStyle/>
          <a:p>
            <a:pPr algn="ctr" indent="0" marL="0">
              <a:buNone/>
            </a:pPr>
            <a:r>
              <a:rPr lang="en-US" sz="900" dirty="0">
                <a:solidFill>
                  <a:srgbClr val="5C7A8A"/>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4175608" y="4091940"/>
            <a:ext cx="3840480" cy="384048"/>
          </a:xfrm>
          <a:prstGeom prst="roundRect">
            <a:avLst>
              <a:gd name="adj" fmla="val 14286"/>
            </a:avLst>
          </a:prstGeom>
          <a:solidFill>
            <a:srgbClr val="74875A"/>
          </a:solidFill>
          <a:ln/>
        </p:spPr>
      </p:sp>
      <p:sp>
        <p:nvSpPr>
          <p:cNvPr id="20" name="Text 18"/>
          <p:cNvSpPr/>
          <p:nvPr/>
        </p:nvSpPr>
        <p:spPr>
          <a:xfrm>
            <a:off x="4175608" y="4091940"/>
            <a:ext cx="384048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 Language Model (LLM)</a:t>
            </a:r>
            <a:endParaRPr lang="en-US" sz="1250" dirty="0"/>
          </a:p>
        </p:txBody>
      </p:sp>
      <p:sp>
        <p:nvSpPr>
          <p:cNvPr id="21" name="Shape 19"/>
          <p:cNvSpPr/>
          <p:nvPr/>
        </p:nvSpPr>
        <p:spPr>
          <a:xfrm>
            <a:off x="1185520" y="4672584"/>
            <a:ext cx="2331720" cy="365760"/>
          </a:xfrm>
          <a:prstGeom prst="roundRect">
            <a:avLst>
              <a:gd name="adj" fmla="val 15000"/>
            </a:avLst>
          </a:prstGeom>
          <a:solidFill>
            <a:srgbClr val="3B6E8F"/>
          </a:solidFill>
          <a:ln/>
        </p:spPr>
      </p:sp>
      <p:sp>
        <p:nvSpPr>
          <p:cNvPr id="22" name="Text 20"/>
          <p:cNvSpPr/>
          <p:nvPr/>
        </p:nvSpPr>
        <p:spPr>
          <a:xfrm>
            <a:off x="1185520" y="4672584"/>
            <a:ext cx="23317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Summarization</a:t>
            </a:r>
            <a:endParaRPr lang="en-US" sz="1100" dirty="0"/>
          </a:p>
        </p:txBody>
      </p:sp>
      <p:sp>
        <p:nvSpPr>
          <p:cNvPr id="23" name="Shape 21"/>
          <p:cNvSpPr/>
          <p:nvPr/>
        </p:nvSpPr>
        <p:spPr>
          <a:xfrm>
            <a:off x="3681832" y="4672584"/>
            <a:ext cx="2331720" cy="365760"/>
          </a:xfrm>
          <a:prstGeom prst="roundRect">
            <a:avLst>
              <a:gd name="adj" fmla="val 15000"/>
            </a:avLst>
          </a:prstGeom>
          <a:solidFill>
            <a:srgbClr val="3B6E8F"/>
          </a:solidFill>
          <a:ln/>
        </p:spPr>
      </p:sp>
      <p:sp>
        <p:nvSpPr>
          <p:cNvPr id="24" name="Text 22"/>
          <p:cNvSpPr/>
          <p:nvPr/>
        </p:nvSpPr>
        <p:spPr>
          <a:xfrm>
            <a:off x="3681832" y="4672584"/>
            <a:ext cx="23317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Meeting Minutes</a:t>
            </a:r>
            <a:endParaRPr lang="en-US" sz="1100" dirty="0"/>
          </a:p>
        </p:txBody>
      </p:sp>
      <p:sp>
        <p:nvSpPr>
          <p:cNvPr id="25" name="Shape 23"/>
          <p:cNvSpPr/>
          <p:nvPr/>
        </p:nvSpPr>
        <p:spPr>
          <a:xfrm>
            <a:off x="6178144" y="4672584"/>
            <a:ext cx="2331720" cy="365760"/>
          </a:xfrm>
          <a:prstGeom prst="roundRect">
            <a:avLst>
              <a:gd name="adj" fmla="val 15000"/>
            </a:avLst>
          </a:prstGeom>
          <a:solidFill>
            <a:srgbClr val="3B6E8F"/>
          </a:solidFill>
          <a:ln/>
        </p:spPr>
      </p:sp>
      <p:sp>
        <p:nvSpPr>
          <p:cNvPr id="26" name="Text 24"/>
          <p:cNvSpPr/>
          <p:nvPr/>
        </p:nvSpPr>
        <p:spPr>
          <a:xfrm>
            <a:off x="6178144" y="4672584"/>
            <a:ext cx="23317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Action Items</a:t>
            </a:r>
            <a:endParaRPr lang="en-US" sz="1100" dirty="0"/>
          </a:p>
        </p:txBody>
      </p:sp>
      <p:sp>
        <p:nvSpPr>
          <p:cNvPr id="27" name="Shape 25"/>
          <p:cNvSpPr/>
          <p:nvPr/>
        </p:nvSpPr>
        <p:spPr>
          <a:xfrm>
            <a:off x="8674456" y="4672584"/>
            <a:ext cx="2331720" cy="365760"/>
          </a:xfrm>
          <a:prstGeom prst="roundRect">
            <a:avLst>
              <a:gd name="adj" fmla="val 15000"/>
            </a:avLst>
          </a:prstGeom>
          <a:solidFill>
            <a:srgbClr val="3B6E8F"/>
          </a:solidFill>
          <a:ln/>
        </p:spPr>
      </p:sp>
      <p:sp>
        <p:nvSpPr>
          <p:cNvPr id="28" name="Text 26"/>
          <p:cNvSpPr/>
          <p:nvPr/>
        </p:nvSpPr>
        <p:spPr>
          <a:xfrm>
            <a:off x="8674456" y="4672584"/>
            <a:ext cx="23317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Question Answering</a:t>
            </a:r>
            <a:endParaRPr lang="en-US" sz="1100" dirty="0"/>
          </a:p>
        </p:txBody>
      </p:sp>
      <p:sp>
        <p:nvSpPr>
          <p:cNvPr id="29" name="Text 27"/>
          <p:cNvSpPr/>
          <p:nvPr/>
        </p:nvSpPr>
        <p:spPr>
          <a:xfrm>
            <a:off x="5958688" y="4549140"/>
            <a:ext cx="274320" cy="123444"/>
          </a:xfrm>
          <a:prstGeom prst="rect">
            <a:avLst/>
          </a:prstGeom>
          <a:noFill/>
          <a:ln/>
        </p:spPr>
        <p:txBody>
          <a:bodyPr wrap="square" rtlCol="0" anchor="ctr"/>
          <a:lstStyle/>
          <a:p>
            <a:pPr algn="ctr" indent="0" marL="0">
              <a:buNone/>
            </a:pPr>
            <a:r>
              <a:rPr lang="en-US" sz="900" dirty="0">
                <a:solidFill>
                  <a:srgbClr val="5C7A8A"/>
                </a:solidFill>
              </a:rPr>
              <a:t>▼</a:t>
            </a:r>
            <a:endParaRPr lang="en-US" sz="900" dirty="0"/>
          </a:p>
        </p:txBody>
      </p:sp>
      <p:sp>
        <p:nvSpPr>
          <p:cNvPr id="30" name="Shape 28"/>
          <p:cNvSpPr/>
          <p:nvPr/>
        </p:nvSpPr>
        <p:spPr>
          <a:xfrm>
            <a:off x="4175608" y="5148072"/>
            <a:ext cx="3840480" cy="384048"/>
          </a:xfrm>
          <a:prstGeom prst="roundRect">
            <a:avLst>
              <a:gd name="adj" fmla="val 14286"/>
            </a:avLst>
          </a:prstGeom>
          <a:solidFill>
            <a:srgbClr val="E4EDF2"/>
          </a:solidFill>
          <a:ln/>
        </p:spPr>
      </p:sp>
      <p:sp>
        <p:nvSpPr>
          <p:cNvPr id="31" name="Text 29"/>
          <p:cNvSpPr/>
          <p:nvPr/>
        </p:nvSpPr>
        <p:spPr>
          <a:xfrm>
            <a:off x="4175608" y="5148072"/>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Vector Database (RAG)</a:t>
            </a:r>
            <a:endParaRPr lang="en-US" sz="1250" dirty="0"/>
          </a:p>
        </p:txBody>
      </p:sp>
      <p:sp>
        <p:nvSpPr>
          <p:cNvPr id="32" name="Text 30"/>
          <p:cNvSpPr/>
          <p:nvPr/>
        </p:nvSpPr>
        <p:spPr>
          <a:xfrm>
            <a:off x="5958688" y="5024628"/>
            <a:ext cx="274320" cy="123444"/>
          </a:xfrm>
          <a:prstGeom prst="rect">
            <a:avLst/>
          </a:prstGeom>
          <a:noFill/>
          <a:ln/>
        </p:spPr>
        <p:txBody>
          <a:bodyPr wrap="square" rtlCol="0" anchor="ctr"/>
          <a:lstStyle/>
          <a:p>
            <a:pPr algn="ctr" indent="0" marL="0">
              <a:buNone/>
            </a:pPr>
            <a:r>
              <a:rPr lang="en-US" sz="900" dirty="0">
                <a:solidFill>
                  <a:srgbClr val="5C7A8A"/>
                </a:solidFill>
              </a:rPr>
              <a:t>▼</a:t>
            </a:r>
            <a:endParaRPr lang="en-US" sz="900" dirty="0"/>
          </a:p>
        </p:txBody>
      </p:sp>
      <p:sp>
        <p:nvSpPr>
          <p:cNvPr id="33" name="Shape 31"/>
          <p:cNvSpPr/>
          <p:nvPr/>
        </p:nvSpPr>
        <p:spPr>
          <a:xfrm>
            <a:off x="4175608" y="5655564"/>
            <a:ext cx="3840480" cy="384048"/>
          </a:xfrm>
          <a:prstGeom prst="roundRect">
            <a:avLst>
              <a:gd name="adj" fmla="val 14286"/>
            </a:avLst>
          </a:prstGeom>
          <a:solidFill>
            <a:srgbClr val="E4EDF2"/>
          </a:solidFill>
          <a:ln/>
        </p:spPr>
      </p:sp>
      <p:sp>
        <p:nvSpPr>
          <p:cNvPr id="34" name="Text 32"/>
          <p:cNvSpPr/>
          <p:nvPr/>
        </p:nvSpPr>
        <p:spPr>
          <a:xfrm>
            <a:off x="4175608" y="5655564"/>
            <a:ext cx="3840480" cy="384048"/>
          </a:xfrm>
          <a:prstGeom prst="rect">
            <a:avLst/>
          </a:prstGeom>
          <a:noFill/>
          <a:ln/>
        </p:spPr>
        <p:txBody>
          <a:bodyPr wrap="square" rtlCol="0" anchor="ctr"/>
          <a:lstStyle/>
          <a:p>
            <a:pPr algn="ctr" indent="0" marL="0">
              <a:buNone/>
            </a:pPr>
            <a:r>
              <a:rPr lang="en-US" sz="1250" b="1" dirty="0">
                <a:solidFill>
                  <a:srgbClr val="2B2B28"/>
                </a:solidFill>
                <a:latin typeface="Calibri" pitchFamily="34" charset="0"/>
                <a:ea typeface="Calibri" pitchFamily="34" charset="-122"/>
                <a:cs typeface="Calibri" pitchFamily="34" charset="-120"/>
              </a:rPr>
              <a:t>Web Dashboard / API</a:t>
            </a:r>
            <a:endParaRPr lang="en-US" sz="1250" dirty="0"/>
          </a:p>
        </p:txBody>
      </p:sp>
      <p:sp>
        <p:nvSpPr>
          <p:cNvPr id="35" name="Text 33"/>
          <p:cNvSpPr/>
          <p:nvPr/>
        </p:nvSpPr>
        <p:spPr>
          <a:xfrm>
            <a:off x="5958688" y="5532120"/>
            <a:ext cx="274320" cy="123444"/>
          </a:xfrm>
          <a:prstGeom prst="rect">
            <a:avLst/>
          </a:prstGeom>
          <a:noFill/>
          <a:ln/>
        </p:spPr>
        <p:txBody>
          <a:bodyPr wrap="square" rtlCol="0" anchor="ctr"/>
          <a:lstStyle/>
          <a:p>
            <a:pPr algn="ctr" indent="0" marL="0">
              <a:buNone/>
            </a:pPr>
            <a:r>
              <a:rPr lang="en-US" sz="900" dirty="0">
                <a:solidFill>
                  <a:srgbClr val="5C7A8A"/>
                </a:solidFill>
              </a:rPr>
              <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11. Proposed Technologies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1645920"/>
          <a:ext cx="10509199" cy="914400"/>
        </p:xfrm>
        <a:graphic>
          <a:graphicData uri="http://schemas.openxmlformats.org/drawingml/2006/table">
            <a:tbl>
              <a:tblPr/>
              <a:tblGrid>
                <a:gridCol w="4729140"/>
                <a:gridCol w="5780060"/>
              </a:tblGrid>
              <a:tr h="32004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3B6E8F"/>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Technology</a:t>
                      </a:r>
                      <a:endParaRPr lang="en-US" sz="13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3B6E8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Programming Language</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Frontend</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React / Next.js</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Backend</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FastAPI</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Database</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PostgreSQL</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Vector Database</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ChromaDB</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Speech Recognition</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Whisper (Fine-tuned)</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Translation</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NLLB-200</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Speaker Diarization</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pyannote.audio</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Large Language Model</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Llama 3 / Gemma</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Embeddings</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BGE / E5</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Text-to-Speech</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Coqui TTS</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2B2B28"/>
                          </a:solidFill>
                          <a:latin typeface="Calibri" pitchFamily="34" charset="0"/>
                          <a:ea typeface="Calibri" pitchFamily="34" charset="-122"/>
                          <a:cs typeface="Calibri" pitchFamily="34" charset="-120"/>
                        </a:rPr>
                        <a:t>Deployment</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c>
                  <a:txBody>
                    <a:bodyPr/>
                    <a:lstStyle/>
                    <a:p>
                      <a:pPr indent="0" marL="0">
                        <a:buNone/>
                      </a:pPr>
                      <a:r>
                        <a:rPr lang="en-US" sz="1250" dirty="0">
                          <a:solidFill>
                            <a:srgbClr val="2B2B28"/>
                          </a:solidFill>
                          <a:latin typeface="Calibri" pitchFamily="34" charset="0"/>
                          <a:ea typeface="Calibri" pitchFamily="34" charset="-122"/>
                          <a:cs typeface="Calibri" pitchFamily="34" charset="-120"/>
                        </a:rPr>
                        <a:t>Docker + Azure/AWS</a:t>
                      </a:r>
                      <a:endParaRPr lang="en-US" sz="1250" dirty="0">
                        <a:latin typeface="Calibri" charset="0"/>
                        <a:ea typeface="Calibri" charset="0"/>
                        <a:cs typeface="Calibri" charset="0"/>
                      </a:endParaRPr>
                    </a:p>
                  </a:txBody>
                  <a:tcPr marL="91440" marR="91440" marT="45720" marB="45720" anchor="ctr">
                    <a:lnL w="6350" cap="flat" cmpd="sng" algn="ctr">
                      <a:solidFill>
                        <a:srgbClr val="E0DCD0"/>
                      </a:solidFill>
                      <a:prstDash val="solid"/>
                      <a:round/>
                      <a:headEnd type="none" w="med" len="med"/>
                      <a:tailEnd type="none" w="med" len="med"/>
                    </a:lnL>
                    <a:lnR w="6350" cap="flat" cmpd="sng" algn="ctr">
                      <a:solidFill>
                        <a:srgbClr val="E0DCD0"/>
                      </a:solidFill>
                      <a:prstDash val="solid"/>
                      <a:round/>
                      <a:headEnd type="none" w="med" len="med"/>
                      <a:tailEnd type="none" w="med" len="med"/>
                    </a:lnR>
                    <a:lnT w="6350" cap="flat" cmpd="sng" algn="ctr">
                      <a:solidFill>
                        <a:srgbClr val="E0DCD0"/>
                      </a:solidFill>
                      <a:prstDash val="solid"/>
                      <a:round/>
                      <a:headEnd type="none" w="med" len="med"/>
                      <a:tailEnd type="none" w="med" len="med"/>
                    </a:lnT>
                    <a:lnB w="6350" cap="flat" cmpd="sng" algn="ctr">
                      <a:solidFill>
                        <a:srgbClr val="E0DCD0"/>
                      </a:solidFill>
                      <a:prstDash val="solid"/>
                      <a:round/>
                      <a:headEnd type="none" w="med" len="med"/>
                      <a:tailEnd type="none" w="med" len="med"/>
                    </a:lnB>
                    <a:solidFill>
                      <a:srgbClr val="F2EEE6"/>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12. Expected Outputs</a:t>
            </a:r>
            <a:endParaRPr lang="en-US" sz="2600" dirty="0"/>
          </a:p>
        </p:txBody>
      </p:sp>
      <p:pic>
        <p:nvPicPr>
          <p:cNvPr id="4" name="Image 0" descr="/home/claude/work/assets/check.png">    </p:cNvPr>
          <p:cNvPicPr>
            <a:picLocks noChangeAspect="1"/>
          </p:cNvPicPr>
          <p:nvPr/>
        </p:nvPicPr>
        <p:blipFill>
          <a:blip r:embed="rId1"/>
          <a:stretch>
            <a:fillRect/>
          </a:stretch>
        </p:blipFill>
        <p:spPr>
          <a:xfrm>
            <a:off x="886968" y="1874520"/>
            <a:ext cx="292608" cy="292608"/>
          </a:xfrm>
          <a:prstGeom prst="rect">
            <a:avLst/>
          </a:prstGeom>
        </p:spPr>
      </p:pic>
      <p:sp>
        <p:nvSpPr>
          <p:cNvPr id="5" name="Text 2"/>
          <p:cNvSpPr/>
          <p:nvPr/>
        </p:nvSpPr>
        <p:spPr>
          <a:xfrm>
            <a:off x="886968" y="224028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A fine-tuned speech recognition model</a:t>
            </a:r>
            <a:endParaRPr lang="en-US" sz="1300" dirty="0"/>
          </a:p>
        </p:txBody>
      </p:sp>
      <p:pic>
        <p:nvPicPr>
          <p:cNvPr id="6" name="Image 1" descr="/home/claude/work/assets/check.png">    </p:cNvPr>
          <p:cNvPicPr>
            <a:picLocks noChangeAspect="1"/>
          </p:cNvPicPr>
          <p:nvPr/>
        </p:nvPicPr>
        <p:blipFill>
          <a:blip r:embed="rId2"/>
          <a:stretch>
            <a:fillRect/>
          </a:stretch>
        </p:blipFill>
        <p:spPr>
          <a:xfrm>
            <a:off x="4390034" y="1874520"/>
            <a:ext cx="292608" cy="292608"/>
          </a:xfrm>
          <a:prstGeom prst="rect">
            <a:avLst/>
          </a:prstGeom>
        </p:spPr>
      </p:pic>
      <p:sp>
        <p:nvSpPr>
          <p:cNvPr id="7" name="Text 3"/>
          <p:cNvSpPr/>
          <p:nvPr/>
        </p:nvSpPr>
        <p:spPr>
          <a:xfrm>
            <a:off x="4390034" y="224028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Comparative evaluation between baseline and improved models</a:t>
            </a:r>
            <a:endParaRPr lang="en-US" sz="1300" dirty="0"/>
          </a:p>
        </p:txBody>
      </p:sp>
      <p:pic>
        <p:nvPicPr>
          <p:cNvPr id="8" name="Image 2" descr="/home/claude/work/assets/check.png">    </p:cNvPr>
          <p:cNvPicPr>
            <a:picLocks noChangeAspect="1"/>
          </p:cNvPicPr>
          <p:nvPr/>
        </p:nvPicPr>
        <p:blipFill>
          <a:blip r:embed="rId3"/>
          <a:stretch>
            <a:fillRect/>
          </a:stretch>
        </p:blipFill>
        <p:spPr>
          <a:xfrm>
            <a:off x="7893101" y="1874520"/>
            <a:ext cx="292608" cy="292608"/>
          </a:xfrm>
          <a:prstGeom prst="rect">
            <a:avLst/>
          </a:prstGeom>
        </p:spPr>
      </p:pic>
      <p:sp>
        <p:nvSpPr>
          <p:cNvPr id="9" name="Text 4"/>
          <p:cNvSpPr/>
          <p:nvPr/>
        </p:nvSpPr>
        <p:spPr>
          <a:xfrm>
            <a:off x="7893101" y="224028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A multilingual meeting assistant prototype</a:t>
            </a:r>
            <a:endParaRPr lang="en-US" sz="1300" dirty="0"/>
          </a:p>
        </p:txBody>
      </p:sp>
      <p:pic>
        <p:nvPicPr>
          <p:cNvPr id="10" name="Image 3" descr="/home/claude/work/assets/check.png">    </p:cNvPr>
          <p:cNvPicPr>
            <a:picLocks noChangeAspect="1"/>
          </p:cNvPicPr>
          <p:nvPr/>
        </p:nvPicPr>
        <p:blipFill>
          <a:blip r:embed="rId4"/>
          <a:stretch>
            <a:fillRect/>
          </a:stretch>
        </p:blipFill>
        <p:spPr>
          <a:xfrm>
            <a:off x="886968" y="3291840"/>
            <a:ext cx="292608" cy="292608"/>
          </a:xfrm>
          <a:prstGeom prst="rect">
            <a:avLst/>
          </a:prstGeom>
        </p:spPr>
      </p:pic>
      <p:sp>
        <p:nvSpPr>
          <p:cNvPr id="11" name="Text 5"/>
          <p:cNvSpPr/>
          <p:nvPr/>
        </p:nvSpPr>
        <p:spPr>
          <a:xfrm>
            <a:off x="886968" y="365760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Web application</a:t>
            </a:r>
            <a:endParaRPr lang="en-US" sz="1300" dirty="0"/>
          </a:p>
        </p:txBody>
      </p:sp>
      <p:pic>
        <p:nvPicPr>
          <p:cNvPr id="12" name="Image 4" descr="/home/claude/work/assets/check.png">    </p:cNvPr>
          <p:cNvPicPr>
            <a:picLocks noChangeAspect="1"/>
          </p:cNvPicPr>
          <p:nvPr/>
        </p:nvPicPr>
        <p:blipFill>
          <a:blip r:embed="rId5"/>
          <a:stretch>
            <a:fillRect/>
          </a:stretch>
        </p:blipFill>
        <p:spPr>
          <a:xfrm>
            <a:off x="4390034" y="3291840"/>
            <a:ext cx="292608" cy="292608"/>
          </a:xfrm>
          <a:prstGeom prst="rect">
            <a:avLst/>
          </a:prstGeom>
        </p:spPr>
      </p:pic>
      <p:sp>
        <p:nvSpPr>
          <p:cNvPr id="13" name="Text 6"/>
          <p:cNvSpPr/>
          <p:nvPr/>
        </p:nvSpPr>
        <p:spPr>
          <a:xfrm>
            <a:off x="4390034" y="365760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REST API</a:t>
            </a:r>
            <a:endParaRPr lang="en-US" sz="1300" dirty="0"/>
          </a:p>
        </p:txBody>
      </p:sp>
      <p:pic>
        <p:nvPicPr>
          <p:cNvPr id="14" name="Image 5" descr="/home/claude/work/assets/check.png">    </p:cNvPr>
          <p:cNvPicPr>
            <a:picLocks noChangeAspect="1"/>
          </p:cNvPicPr>
          <p:nvPr/>
        </p:nvPicPr>
        <p:blipFill>
          <a:blip r:embed="rId6"/>
          <a:stretch>
            <a:fillRect/>
          </a:stretch>
        </p:blipFill>
        <p:spPr>
          <a:xfrm>
            <a:off x="7893101" y="3291840"/>
            <a:ext cx="292608" cy="292608"/>
          </a:xfrm>
          <a:prstGeom prst="rect">
            <a:avLst/>
          </a:prstGeom>
        </p:spPr>
      </p:pic>
      <p:sp>
        <p:nvSpPr>
          <p:cNvPr id="15" name="Text 7"/>
          <p:cNvSpPr/>
          <p:nvPr/>
        </p:nvSpPr>
        <p:spPr>
          <a:xfrm>
            <a:off x="7893101" y="365760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Automatic meeting minutes generator</a:t>
            </a:r>
            <a:endParaRPr lang="en-US" sz="1300" dirty="0"/>
          </a:p>
        </p:txBody>
      </p:sp>
      <p:pic>
        <p:nvPicPr>
          <p:cNvPr id="16" name="Image 6" descr="/home/claude/work/assets/check.png">    </p:cNvPr>
          <p:cNvPicPr>
            <a:picLocks noChangeAspect="1"/>
          </p:cNvPicPr>
          <p:nvPr/>
        </p:nvPicPr>
        <p:blipFill>
          <a:blip r:embed="rId7"/>
          <a:stretch>
            <a:fillRect/>
          </a:stretch>
        </p:blipFill>
        <p:spPr>
          <a:xfrm>
            <a:off x="886968" y="4709160"/>
            <a:ext cx="292608" cy="292608"/>
          </a:xfrm>
          <a:prstGeom prst="rect">
            <a:avLst/>
          </a:prstGeom>
        </p:spPr>
      </p:pic>
      <p:sp>
        <p:nvSpPr>
          <p:cNvPr id="17" name="Text 8"/>
          <p:cNvSpPr/>
          <p:nvPr/>
        </p:nvSpPr>
        <p:spPr>
          <a:xfrm>
            <a:off x="886968" y="507492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AI-powered summarization module</a:t>
            </a:r>
            <a:endParaRPr lang="en-US" sz="1300" dirty="0"/>
          </a:p>
        </p:txBody>
      </p:sp>
      <p:pic>
        <p:nvPicPr>
          <p:cNvPr id="18" name="Image 7" descr="/home/claude/work/assets/check.png">    </p:cNvPr>
          <p:cNvPicPr>
            <a:picLocks noChangeAspect="1"/>
          </p:cNvPicPr>
          <p:nvPr/>
        </p:nvPicPr>
        <p:blipFill>
          <a:blip r:embed="rId8"/>
          <a:stretch>
            <a:fillRect/>
          </a:stretch>
        </p:blipFill>
        <p:spPr>
          <a:xfrm>
            <a:off x="4390034" y="4709160"/>
            <a:ext cx="292608" cy="292608"/>
          </a:xfrm>
          <a:prstGeom prst="rect">
            <a:avLst/>
          </a:prstGeom>
        </p:spPr>
      </p:pic>
      <p:sp>
        <p:nvSpPr>
          <p:cNvPr id="19" name="Text 9"/>
          <p:cNvSpPr/>
          <p:nvPr/>
        </p:nvSpPr>
        <p:spPr>
          <a:xfrm>
            <a:off x="4390034" y="507492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Research report</a:t>
            </a:r>
            <a:endParaRPr lang="en-US" sz="1300" dirty="0"/>
          </a:p>
        </p:txBody>
      </p:sp>
      <p:pic>
        <p:nvPicPr>
          <p:cNvPr id="20" name="Image 8" descr="/home/claude/work/assets/check.png">    </p:cNvPr>
          <p:cNvPicPr>
            <a:picLocks noChangeAspect="1"/>
          </p:cNvPicPr>
          <p:nvPr/>
        </p:nvPicPr>
        <p:blipFill>
          <a:blip r:embed="rId9"/>
          <a:stretch>
            <a:fillRect/>
          </a:stretch>
        </p:blipFill>
        <p:spPr>
          <a:xfrm>
            <a:off x="7893101" y="4709160"/>
            <a:ext cx="292608" cy="292608"/>
          </a:xfrm>
          <a:prstGeom prst="rect">
            <a:avLst/>
          </a:prstGeom>
        </p:spPr>
      </p:pic>
      <p:sp>
        <p:nvSpPr>
          <p:cNvPr id="21" name="Text 10"/>
          <p:cNvSpPr/>
          <p:nvPr/>
        </p:nvSpPr>
        <p:spPr>
          <a:xfrm>
            <a:off x="7893101" y="5074920"/>
            <a:ext cx="3228746" cy="914400"/>
          </a:xfrm>
          <a:prstGeom prst="rect">
            <a:avLst/>
          </a:prstGeom>
          <a:noFill/>
          <a:ln/>
        </p:spPr>
        <p:txBody>
          <a:bodyPr wrap="square" rtlCol="0" anchor="t"/>
          <a:lstStyle/>
          <a:p>
            <a:pPr indent="0" marL="0">
              <a:buNone/>
            </a:pPr>
            <a:r>
              <a:rPr lang="en-US" sz="1300" dirty="0">
                <a:solidFill>
                  <a:srgbClr val="2B2B28"/>
                </a:solidFill>
                <a:latin typeface="Calibri" pitchFamily="34" charset="0"/>
                <a:ea typeface="Calibri" pitchFamily="34" charset="-122"/>
                <a:cs typeface="Calibri" pitchFamily="34" charset="-120"/>
              </a:rPr>
              <a:t>Public GitHub repository with reproducible code and documentation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13</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13. Expected Impact</a:t>
            </a:r>
            <a:endParaRPr lang="en-US" sz="2600" dirty="0"/>
          </a:p>
        </p:txBody>
      </p:sp>
      <p:sp>
        <p:nvSpPr>
          <p:cNvPr id="4" name="Shape 2"/>
          <p:cNvSpPr/>
          <p:nvPr/>
        </p:nvSpPr>
        <p:spPr>
          <a:xfrm>
            <a:off x="932688" y="1828800"/>
            <a:ext cx="3320186" cy="3840480"/>
          </a:xfrm>
          <a:prstGeom prst="roundRect">
            <a:avLst>
              <a:gd name="adj" fmla="val 2754"/>
            </a:avLst>
          </a:prstGeom>
          <a:solidFill>
            <a:srgbClr val="FFFFFF"/>
          </a:solidFill>
          <a:ln w="9525">
            <a:solidFill>
              <a:srgbClr val="E0DCD0"/>
            </a:solidFill>
            <a:prstDash val="solid"/>
          </a:ln>
        </p:spPr>
      </p:sp>
      <p:pic>
        <p:nvPicPr>
          <p:cNvPr id="5" name="Image 0" descr="/home/claude/work/assets/impact_academic.png">    </p:cNvPr>
          <p:cNvPicPr>
            <a:picLocks noChangeAspect="1"/>
          </p:cNvPicPr>
          <p:nvPr/>
        </p:nvPicPr>
        <p:blipFill>
          <a:blip r:embed="rId1"/>
          <a:stretch>
            <a:fillRect/>
          </a:stretch>
        </p:blipFill>
        <p:spPr>
          <a:xfrm>
            <a:off x="2318461" y="2103120"/>
            <a:ext cx="548640" cy="548640"/>
          </a:xfrm>
          <a:prstGeom prst="rect">
            <a:avLst/>
          </a:prstGeom>
        </p:spPr>
      </p:pic>
      <p:sp>
        <p:nvSpPr>
          <p:cNvPr id="6" name="Text 3"/>
          <p:cNvSpPr/>
          <p:nvPr/>
        </p:nvSpPr>
        <p:spPr>
          <a:xfrm>
            <a:off x="1024128" y="2788920"/>
            <a:ext cx="3137306" cy="365760"/>
          </a:xfrm>
          <a:prstGeom prst="rect">
            <a:avLst/>
          </a:prstGeom>
          <a:noFill/>
          <a:ln/>
        </p:spPr>
        <p:txBody>
          <a:bodyPr wrap="square" rtlCol="0" anchor="ctr"/>
          <a:lstStyle/>
          <a:p>
            <a:pPr algn="ctr" indent="0" marL="0">
              <a:buNone/>
            </a:pPr>
            <a:r>
              <a:rPr lang="en-US" sz="1600" b="1" dirty="0">
                <a:solidFill>
                  <a:srgbClr val="74875A"/>
                </a:solidFill>
                <a:latin typeface="Calibri" pitchFamily="34" charset="0"/>
                <a:ea typeface="Calibri" pitchFamily="34" charset="-122"/>
                <a:cs typeface="Calibri" pitchFamily="34" charset="-120"/>
              </a:rPr>
              <a:t>Academic Impact</a:t>
            </a:r>
            <a:endParaRPr lang="en-US" sz="1600" dirty="0"/>
          </a:p>
        </p:txBody>
      </p:sp>
      <p:sp>
        <p:nvSpPr>
          <p:cNvPr id="7" name="Text 4"/>
          <p:cNvSpPr/>
          <p:nvPr/>
        </p:nvSpPr>
        <p:spPr>
          <a:xfrm>
            <a:off x="1161288" y="3291840"/>
            <a:ext cx="2862986" cy="2194560"/>
          </a:xfrm>
          <a:prstGeom prst="rect">
            <a:avLst/>
          </a:prstGeom>
          <a:noFill/>
          <a:ln/>
        </p:spPr>
        <p:txBody>
          <a:bodyPr wrap="square" rtlCol="0" anchor="t"/>
          <a:lstStyle/>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Demonstrate an end-to-end machine learning workflow</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Advance research on speech recognition for African languages</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Contribute reproducible research suitable for publication</a:t>
            </a:r>
            <a:endParaRPr lang="en-US" sz="1300" dirty="0"/>
          </a:p>
        </p:txBody>
      </p:sp>
      <p:sp>
        <p:nvSpPr>
          <p:cNvPr id="8" name="Shape 5"/>
          <p:cNvSpPr/>
          <p:nvPr/>
        </p:nvSpPr>
        <p:spPr>
          <a:xfrm>
            <a:off x="4435754" y="1828800"/>
            <a:ext cx="3320186" cy="3840480"/>
          </a:xfrm>
          <a:prstGeom prst="roundRect">
            <a:avLst>
              <a:gd name="adj" fmla="val 2754"/>
            </a:avLst>
          </a:prstGeom>
          <a:solidFill>
            <a:srgbClr val="FFFFFF"/>
          </a:solidFill>
          <a:ln w="9525">
            <a:solidFill>
              <a:srgbClr val="E0DCD0"/>
            </a:solidFill>
            <a:prstDash val="solid"/>
          </a:ln>
        </p:spPr>
      </p:sp>
      <p:pic>
        <p:nvPicPr>
          <p:cNvPr id="9" name="Image 1" descr="/home/claude/work/assets/impact_social.png">    </p:cNvPr>
          <p:cNvPicPr>
            <a:picLocks noChangeAspect="1"/>
          </p:cNvPicPr>
          <p:nvPr/>
        </p:nvPicPr>
        <p:blipFill>
          <a:blip r:embed="rId2"/>
          <a:stretch>
            <a:fillRect/>
          </a:stretch>
        </p:blipFill>
        <p:spPr>
          <a:xfrm>
            <a:off x="5821528" y="2103120"/>
            <a:ext cx="548640" cy="548640"/>
          </a:xfrm>
          <a:prstGeom prst="rect">
            <a:avLst/>
          </a:prstGeom>
        </p:spPr>
      </p:pic>
      <p:sp>
        <p:nvSpPr>
          <p:cNvPr id="10" name="Text 6"/>
          <p:cNvSpPr/>
          <p:nvPr/>
        </p:nvSpPr>
        <p:spPr>
          <a:xfrm>
            <a:off x="4527194" y="2788920"/>
            <a:ext cx="3137306" cy="365760"/>
          </a:xfrm>
          <a:prstGeom prst="rect">
            <a:avLst/>
          </a:prstGeom>
          <a:noFill/>
          <a:ln/>
        </p:spPr>
        <p:txBody>
          <a:bodyPr wrap="square" rtlCol="0" anchor="ctr"/>
          <a:lstStyle/>
          <a:p>
            <a:pPr algn="ctr" indent="0" marL="0">
              <a:buNone/>
            </a:pPr>
            <a:r>
              <a:rPr lang="en-US" sz="1600" b="1" dirty="0">
                <a:solidFill>
                  <a:srgbClr val="3B6E8F"/>
                </a:solidFill>
                <a:latin typeface="Calibri" pitchFamily="34" charset="0"/>
                <a:ea typeface="Calibri" pitchFamily="34" charset="-122"/>
                <a:cs typeface="Calibri" pitchFamily="34" charset="-120"/>
              </a:rPr>
              <a:t>Social Impact</a:t>
            </a:r>
            <a:endParaRPr lang="en-US" sz="1600" dirty="0"/>
          </a:p>
        </p:txBody>
      </p:sp>
      <p:sp>
        <p:nvSpPr>
          <p:cNvPr id="11" name="Text 7"/>
          <p:cNvSpPr/>
          <p:nvPr/>
        </p:nvSpPr>
        <p:spPr>
          <a:xfrm>
            <a:off x="4664354" y="3291840"/>
            <a:ext cx="2862986" cy="2194560"/>
          </a:xfrm>
          <a:prstGeom prst="rect">
            <a:avLst/>
          </a:prstGeom>
          <a:noFill/>
          <a:ln/>
        </p:spPr>
        <p:txBody>
          <a:bodyPr wrap="square" rtlCol="0" anchor="t"/>
          <a:lstStyle/>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Improve multilingual communication</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Increase meeting accessibility</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Promote inclusion across language barriers</a:t>
            </a:r>
            <a:endParaRPr lang="en-US" sz="1300" dirty="0"/>
          </a:p>
        </p:txBody>
      </p:sp>
      <p:sp>
        <p:nvSpPr>
          <p:cNvPr id="12" name="Shape 8"/>
          <p:cNvSpPr/>
          <p:nvPr/>
        </p:nvSpPr>
        <p:spPr>
          <a:xfrm>
            <a:off x="7938821" y="1828800"/>
            <a:ext cx="3320186" cy="3840480"/>
          </a:xfrm>
          <a:prstGeom prst="roundRect">
            <a:avLst>
              <a:gd name="adj" fmla="val 2754"/>
            </a:avLst>
          </a:prstGeom>
          <a:solidFill>
            <a:srgbClr val="FFFFFF"/>
          </a:solidFill>
          <a:ln w="9525">
            <a:solidFill>
              <a:srgbClr val="E0DCD0"/>
            </a:solidFill>
            <a:prstDash val="solid"/>
          </a:ln>
        </p:spPr>
      </p:sp>
      <p:pic>
        <p:nvPicPr>
          <p:cNvPr id="13" name="Image 2" descr="/home/claude/work/assets/impact_economic.png">    </p:cNvPr>
          <p:cNvPicPr>
            <a:picLocks noChangeAspect="1"/>
          </p:cNvPicPr>
          <p:nvPr/>
        </p:nvPicPr>
        <p:blipFill>
          <a:blip r:embed="rId3"/>
          <a:stretch>
            <a:fillRect/>
          </a:stretch>
        </p:blipFill>
        <p:spPr>
          <a:xfrm>
            <a:off x="9324594" y="2103120"/>
            <a:ext cx="548640" cy="548640"/>
          </a:xfrm>
          <a:prstGeom prst="rect">
            <a:avLst/>
          </a:prstGeom>
        </p:spPr>
      </p:pic>
      <p:sp>
        <p:nvSpPr>
          <p:cNvPr id="14" name="Text 9"/>
          <p:cNvSpPr/>
          <p:nvPr/>
        </p:nvSpPr>
        <p:spPr>
          <a:xfrm>
            <a:off x="8030261" y="2788920"/>
            <a:ext cx="3137306" cy="365760"/>
          </a:xfrm>
          <a:prstGeom prst="rect">
            <a:avLst/>
          </a:prstGeom>
          <a:noFill/>
          <a:ln/>
        </p:spPr>
        <p:txBody>
          <a:bodyPr wrap="square" rtlCol="0" anchor="ctr"/>
          <a:lstStyle/>
          <a:p>
            <a:pPr algn="ctr" indent="0" marL="0">
              <a:buNone/>
            </a:pPr>
            <a:r>
              <a:rPr lang="en-US" sz="1600" b="1" dirty="0">
                <a:solidFill>
                  <a:srgbClr val="A6785C"/>
                </a:solidFill>
                <a:latin typeface="Calibri" pitchFamily="34" charset="0"/>
                <a:ea typeface="Calibri" pitchFamily="34" charset="-122"/>
                <a:cs typeface="Calibri" pitchFamily="34" charset="-120"/>
              </a:rPr>
              <a:t>Economic Impact</a:t>
            </a:r>
            <a:endParaRPr lang="en-US" sz="1600" dirty="0"/>
          </a:p>
        </p:txBody>
      </p:sp>
      <p:sp>
        <p:nvSpPr>
          <p:cNvPr id="15" name="Text 10"/>
          <p:cNvSpPr/>
          <p:nvPr/>
        </p:nvSpPr>
        <p:spPr>
          <a:xfrm>
            <a:off x="8167421" y="3291840"/>
            <a:ext cx="2862986" cy="2194560"/>
          </a:xfrm>
          <a:prstGeom prst="rect">
            <a:avLst/>
          </a:prstGeom>
          <a:noFill/>
          <a:ln/>
        </p:spPr>
        <p:txBody>
          <a:bodyPr wrap="square" rtlCol="0" anchor="t"/>
          <a:lstStyle/>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Reduce interpretation costs</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Improve organizational productivity</a:t>
            </a:r>
            <a:endParaRPr lang="en-US" sz="1300" dirty="0"/>
          </a:p>
          <a:p>
            <a:pPr marL="342900" indent="-342900">
              <a:spcAft>
                <a:spcPts val="1000"/>
              </a:spcAft>
              <a:buSzPct val="100000"/>
              <a:buChar char="•"/>
            </a:pPr>
            <a:r>
              <a:rPr lang="en-US" sz="1300" dirty="0">
                <a:solidFill>
                  <a:srgbClr val="2B2B28"/>
                </a:solidFill>
                <a:latin typeface="Calibri" pitchFamily="34" charset="0"/>
                <a:ea typeface="Calibri" pitchFamily="34" charset="-122"/>
                <a:cs typeface="Calibri" pitchFamily="34" charset="-120"/>
              </a:rPr>
              <a:t>Support digital transformation initiatives across Africa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14</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14. Innovation</a:t>
            </a:r>
            <a:endParaRPr lang="en-US" sz="2600" dirty="0"/>
          </a:p>
        </p:txBody>
      </p:sp>
      <p:sp>
        <p:nvSpPr>
          <p:cNvPr id="4" name="Text 2"/>
          <p:cNvSpPr/>
          <p:nvPr/>
        </p:nvSpPr>
        <p:spPr>
          <a:xfrm>
            <a:off x="841248" y="1828800"/>
            <a:ext cx="10509199" cy="502920"/>
          </a:xfrm>
          <a:prstGeom prst="rect">
            <a:avLst/>
          </a:prstGeom>
          <a:noFill/>
          <a:ln/>
        </p:spPr>
        <p:txBody>
          <a:bodyPr wrap="square" rtlCol="0" anchor="t"/>
          <a:lstStyle/>
          <a:p>
            <a:pPr indent="0" marL="0">
              <a:buNone/>
            </a:pPr>
            <a:r>
              <a:rPr lang="en-US" sz="1500" dirty="0">
                <a:solidFill>
                  <a:srgbClr val="2B2B28"/>
                </a:solidFill>
                <a:latin typeface="Calibri" pitchFamily="34" charset="0"/>
                <a:ea typeface="Calibri" pitchFamily="34" charset="-122"/>
                <a:cs typeface="Calibri" pitchFamily="34" charset="-120"/>
              </a:rPr>
              <a:t>The project's primary innovation lies in integrating domain-adaptive machine learning with intelligent meeting assistance.</a:t>
            </a:r>
            <a:endParaRPr lang="en-US" sz="1500" dirty="0"/>
          </a:p>
        </p:txBody>
      </p:sp>
      <p:pic>
        <p:nvPicPr>
          <p:cNvPr id="5" name="Image 0" descr="/home/claude/work/assets/feat_asr.png">    </p:cNvPr>
          <p:cNvPicPr>
            <a:picLocks noChangeAspect="1"/>
          </p:cNvPicPr>
          <p:nvPr/>
        </p:nvPicPr>
        <p:blipFill>
          <a:blip r:embed="rId1"/>
          <a:stretch>
            <a:fillRect/>
          </a:stretch>
        </p:blipFill>
        <p:spPr>
          <a:xfrm>
            <a:off x="2341321" y="2423160"/>
            <a:ext cx="502920" cy="502920"/>
          </a:xfrm>
          <a:prstGeom prst="rect">
            <a:avLst/>
          </a:prstGeom>
        </p:spPr>
      </p:pic>
      <p:sp>
        <p:nvSpPr>
          <p:cNvPr id="6" name="Text 3"/>
          <p:cNvSpPr/>
          <p:nvPr/>
        </p:nvSpPr>
        <p:spPr>
          <a:xfrm>
            <a:off x="978408" y="299923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Fine-tuned speech recognition for African conference speech</a:t>
            </a:r>
            <a:endParaRPr lang="en-US" sz="1300" dirty="0"/>
          </a:p>
        </p:txBody>
      </p:sp>
      <p:pic>
        <p:nvPicPr>
          <p:cNvPr id="7" name="Image 1" descr="/home/claude/work/assets/inn_translate.png">    </p:cNvPr>
          <p:cNvPicPr>
            <a:picLocks noChangeAspect="1"/>
          </p:cNvPicPr>
          <p:nvPr/>
        </p:nvPicPr>
        <p:blipFill>
          <a:blip r:embed="rId2"/>
          <a:stretch>
            <a:fillRect/>
          </a:stretch>
        </p:blipFill>
        <p:spPr>
          <a:xfrm>
            <a:off x="5844388" y="2423160"/>
            <a:ext cx="502920" cy="502920"/>
          </a:xfrm>
          <a:prstGeom prst="rect">
            <a:avLst/>
          </a:prstGeom>
        </p:spPr>
      </p:pic>
      <p:sp>
        <p:nvSpPr>
          <p:cNvPr id="8" name="Text 4"/>
          <p:cNvSpPr/>
          <p:nvPr/>
        </p:nvSpPr>
        <p:spPr>
          <a:xfrm>
            <a:off x="4481474" y="299923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Real-time multilingual meeting intelligence</a:t>
            </a:r>
            <a:endParaRPr lang="en-US" sz="1300" dirty="0"/>
          </a:p>
        </p:txBody>
      </p:sp>
      <p:pic>
        <p:nvPicPr>
          <p:cNvPr id="9" name="Image 2" descr="/home/claude/work/assets/inn_minutes.png">    </p:cNvPr>
          <p:cNvPicPr>
            <a:picLocks noChangeAspect="1"/>
          </p:cNvPicPr>
          <p:nvPr/>
        </p:nvPicPr>
        <p:blipFill>
          <a:blip r:embed="rId3"/>
          <a:stretch>
            <a:fillRect/>
          </a:stretch>
        </p:blipFill>
        <p:spPr>
          <a:xfrm>
            <a:off x="9347454" y="2423160"/>
            <a:ext cx="502920" cy="502920"/>
          </a:xfrm>
          <a:prstGeom prst="rect">
            <a:avLst/>
          </a:prstGeom>
        </p:spPr>
      </p:pic>
      <p:sp>
        <p:nvSpPr>
          <p:cNvPr id="10" name="Text 5"/>
          <p:cNvSpPr/>
          <p:nvPr/>
        </p:nvSpPr>
        <p:spPr>
          <a:xfrm>
            <a:off x="7984541" y="299923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AI-generated meeting documentation</a:t>
            </a:r>
            <a:endParaRPr lang="en-US" sz="1300" dirty="0"/>
          </a:p>
        </p:txBody>
      </p:sp>
      <p:pic>
        <p:nvPicPr>
          <p:cNvPr id="11" name="Image 3" descr="/home/claude/work/assets/feat_actionitem.png">    </p:cNvPr>
          <p:cNvPicPr>
            <a:picLocks noChangeAspect="1"/>
          </p:cNvPicPr>
          <p:nvPr/>
        </p:nvPicPr>
        <p:blipFill>
          <a:blip r:embed="rId4"/>
          <a:stretch>
            <a:fillRect/>
          </a:stretch>
        </p:blipFill>
        <p:spPr>
          <a:xfrm>
            <a:off x="2341321" y="4206240"/>
            <a:ext cx="502920" cy="502920"/>
          </a:xfrm>
          <a:prstGeom prst="rect">
            <a:avLst/>
          </a:prstGeom>
        </p:spPr>
      </p:pic>
      <p:sp>
        <p:nvSpPr>
          <p:cNvPr id="12" name="Text 6"/>
          <p:cNvSpPr/>
          <p:nvPr/>
        </p:nvSpPr>
        <p:spPr>
          <a:xfrm>
            <a:off x="978408" y="478231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Automatic action-item extraction</a:t>
            </a:r>
            <a:endParaRPr lang="en-US" sz="1300" dirty="0"/>
          </a:p>
        </p:txBody>
      </p:sp>
      <p:pic>
        <p:nvPicPr>
          <p:cNvPr id="13" name="Image 4" descr="/home/claude/work/assets/innov2_search.png">    </p:cNvPr>
          <p:cNvPicPr>
            <a:picLocks noChangeAspect="1"/>
          </p:cNvPicPr>
          <p:nvPr/>
        </p:nvPicPr>
        <p:blipFill>
          <a:blip r:embed="rId5"/>
          <a:stretch>
            <a:fillRect/>
          </a:stretch>
        </p:blipFill>
        <p:spPr>
          <a:xfrm>
            <a:off x="5844388" y="4206240"/>
            <a:ext cx="502920" cy="502920"/>
          </a:xfrm>
          <a:prstGeom prst="rect">
            <a:avLst/>
          </a:prstGeom>
        </p:spPr>
      </p:pic>
      <p:sp>
        <p:nvSpPr>
          <p:cNvPr id="14" name="Text 7"/>
          <p:cNvSpPr/>
          <p:nvPr/>
        </p:nvSpPr>
        <p:spPr>
          <a:xfrm>
            <a:off x="4481474" y="478231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Retrieval-Augmented Generation for meeting search</a:t>
            </a:r>
            <a:endParaRPr lang="en-US" sz="1300" dirty="0"/>
          </a:p>
        </p:txBody>
      </p:sp>
      <p:pic>
        <p:nvPicPr>
          <p:cNvPr id="15" name="Image 5" descr="/home/claude/work/assets/innov2_hybrid.png">    </p:cNvPr>
          <p:cNvPicPr>
            <a:picLocks noChangeAspect="1"/>
          </p:cNvPicPr>
          <p:nvPr/>
        </p:nvPicPr>
        <p:blipFill>
          <a:blip r:embed="rId6"/>
          <a:stretch>
            <a:fillRect/>
          </a:stretch>
        </p:blipFill>
        <p:spPr>
          <a:xfrm>
            <a:off x="9347454" y="4206240"/>
            <a:ext cx="502920" cy="502920"/>
          </a:xfrm>
          <a:prstGeom prst="rect">
            <a:avLst/>
          </a:prstGeom>
        </p:spPr>
      </p:pic>
      <p:sp>
        <p:nvSpPr>
          <p:cNvPr id="16" name="Text 8"/>
          <p:cNvSpPr/>
          <p:nvPr/>
        </p:nvSpPr>
        <p:spPr>
          <a:xfrm>
            <a:off x="7984541" y="4782312"/>
            <a:ext cx="3228746" cy="1005840"/>
          </a:xfrm>
          <a:prstGeom prst="rect">
            <a:avLst/>
          </a:prstGeom>
          <a:noFill/>
          <a:ln/>
        </p:spPr>
        <p:txBody>
          <a:bodyPr wrap="square" rtlCol="0" anchor="t"/>
          <a:lstStyle/>
          <a:p>
            <a:pPr algn="ctr" indent="0" marL="0">
              <a:buNone/>
            </a:pPr>
            <a:r>
              <a:rPr lang="en-US" sz="1300" dirty="0">
                <a:solidFill>
                  <a:srgbClr val="2B2B28"/>
                </a:solidFill>
                <a:latin typeface="Calibri" pitchFamily="34" charset="0"/>
                <a:ea typeface="Calibri" pitchFamily="34" charset="-122"/>
                <a:cs typeface="Calibri" pitchFamily="34" charset="-120"/>
              </a:rPr>
              <a:t>Hybrid deployment: standalone platform and conferencing-app integration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15</a:t>
            </a:r>
            <a:endParaRPr lang="en-US" sz="1000" dirty="0"/>
          </a:p>
        </p:txBody>
      </p:sp>
      <p:sp>
        <p:nvSpPr>
          <p:cNvPr id="3" name="Text 1"/>
          <p:cNvSpPr/>
          <p:nvPr/>
        </p:nvSpPr>
        <p:spPr>
          <a:xfrm>
            <a:off x="841248" y="365760"/>
            <a:ext cx="10509199" cy="822960"/>
          </a:xfrm>
          <a:prstGeom prst="rect">
            <a:avLst/>
          </a:prstGeom>
          <a:noFill/>
          <a:ln/>
        </p:spPr>
        <p:txBody>
          <a:bodyPr wrap="square" rtlCol="0" anchor="t"/>
          <a:lstStyle/>
          <a:p>
            <a:pPr algn="l" indent="0" marL="0">
              <a:buNone/>
            </a:pPr>
            <a:r>
              <a:rPr lang="en-US" sz="2600" b="1" dirty="0">
                <a:solidFill>
                  <a:srgbClr val="2B2B28"/>
                </a:solidFill>
                <a:latin typeface="Georgia" pitchFamily="34" charset="0"/>
                <a:ea typeface="Georgia" pitchFamily="34" charset="-122"/>
                <a:cs typeface="Georgia" pitchFamily="34" charset="-120"/>
              </a:rPr>
              <a:t>15. Future Work</a:t>
            </a:r>
            <a:endParaRPr lang="en-US" sz="2600" dirty="0"/>
          </a:p>
        </p:txBody>
      </p:sp>
      <p:sp>
        <p:nvSpPr>
          <p:cNvPr id="4" name="Text 2"/>
          <p:cNvSpPr/>
          <p:nvPr/>
        </p:nvSpPr>
        <p:spPr>
          <a:xfrm>
            <a:off x="841248" y="2011680"/>
            <a:ext cx="5071720" cy="3291840"/>
          </a:xfrm>
          <a:prstGeom prst="rect">
            <a:avLst/>
          </a:prstGeom>
          <a:noFill/>
          <a:ln/>
        </p:spPr>
        <p:txBody>
          <a:bodyPr wrap="square" rtlCol="0" anchor="t"/>
          <a:lstStyle/>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Support for additional African languages</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Integration with Zoom, Microsoft Teams, Google Meet, and Cisco Webex</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Mobile applications</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Offline deployment for secure government environments</a:t>
            </a:r>
            <a:endParaRPr lang="en-US" sz="1600" dirty="0"/>
          </a:p>
        </p:txBody>
      </p:sp>
      <p:sp>
        <p:nvSpPr>
          <p:cNvPr id="5" name="Text 3"/>
          <p:cNvSpPr/>
          <p:nvPr/>
        </p:nvSpPr>
        <p:spPr>
          <a:xfrm>
            <a:off x="6278728" y="2011680"/>
            <a:ext cx="5071720" cy="3291840"/>
          </a:xfrm>
          <a:prstGeom prst="rect">
            <a:avLst/>
          </a:prstGeom>
          <a:noFill/>
          <a:ln/>
        </p:spPr>
        <p:txBody>
          <a:bodyPr wrap="square" rtlCol="0" anchor="t"/>
          <a:lstStyle/>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Emotion and sentiment analysis</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AI-powered meeting scheduling</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Personalized meeting assistants</a:t>
            </a:r>
            <a:endParaRPr lang="en-US" sz="1600" dirty="0"/>
          </a:p>
          <a:p>
            <a:pPr marL="342900" indent="-342900">
              <a:spcAft>
                <a:spcPts val="1400"/>
              </a:spcAft>
              <a:buSzPct val="100000"/>
              <a:buChar char="•"/>
            </a:pPr>
            <a:r>
              <a:rPr lang="en-US" sz="1600" dirty="0">
                <a:solidFill>
                  <a:srgbClr val="2B2B28"/>
                </a:solidFill>
                <a:latin typeface="Calibri" pitchFamily="34" charset="0"/>
                <a:ea typeface="Calibri" pitchFamily="34" charset="-122"/>
                <a:cs typeface="Calibri" pitchFamily="34" charset="-120"/>
              </a:rPr>
              <a:t>Voice cloning and multilingual speech synthesis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C7A8A"/>
                </a:solidFill>
                <a:latin typeface="Calibri" pitchFamily="34" charset="0"/>
                <a:ea typeface="Calibri" pitchFamily="34" charset="-122"/>
                <a:cs typeface="Calibri" pitchFamily="34" charset="-120"/>
              </a:rPr>
              <a:t>16</a:t>
            </a:r>
            <a:endParaRPr lang="en-US" sz="1000" dirty="0"/>
          </a:p>
        </p:txBody>
      </p:sp>
      <p:sp>
        <p:nvSpPr>
          <p:cNvPr id="3" name="Text 1"/>
          <p:cNvSpPr/>
          <p:nvPr/>
        </p:nvSpPr>
        <p:spPr>
          <a:xfrm>
            <a:off x="841248" y="365760"/>
            <a:ext cx="10509199" cy="822960"/>
          </a:xfrm>
          <a:prstGeom prst="rect">
            <a:avLst/>
          </a:prstGeom>
          <a:noFill/>
          <a:ln/>
        </p:spPr>
        <p:txBody>
          <a:bodyPr wrap="square" rtlCol="0" anchor="ctr"/>
          <a:lstStyle/>
          <a:p>
            <a:pPr indent="0" marL="0">
              <a:buNone/>
            </a:pPr>
            <a:r>
              <a:rPr lang="en-US" sz="3200" b="1" dirty="0">
                <a:solidFill>
                  <a:srgbClr val="2B2B28"/>
                </a:solidFill>
                <a:latin typeface="Georgia" pitchFamily="34" charset="0"/>
                <a:ea typeface="Georgia" pitchFamily="34" charset="-122"/>
                <a:cs typeface="Georgia" pitchFamily="34" charset="-120"/>
              </a:rPr>
              <a:t>16. Conclusion</a:t>
            </a:r>
            <a:endParaRPr lang="en-US" sz="3200" dirty="0"/>
          </a:p>
        </p:txBody>
      </p:sp>
      <p:sp>
        <p:nvSpPr>
          <p:cNvPr id="4" name="Text 2"/>
          <p:cNvSpPr/>
          <p:nvPr/>
        </p:nvSpPr>
        <p:spPr>
          <a:xfrm>
            <a:off x="841248" y="1783080"/>
            <a:ext cx="10509199" cy="1554480"/>
          </a:xfrm>
          <a:prstGeom prst="rect">
            <a:avLst/>
          </a:prstGeom>
          <a:noFill/>
          <a:ln/>
        </p:spPr>
        <p:txBody>
          <a:bodyPr wrap="square" rtlCol="0" anchor="t"/>
          <a:lstStyle/>
          <a:p>
            <a:pPr indent="0" marL="0">
              <a:buNone/>
            </a:pPr>
            <a:r>
              <a:rPr lang="en-US" sz="1550" dirty="0">
                <a:solidFill>
                  <a:srgbClr val="2B2B28"/>
                </a:solidFill>
                <a:latin typeface="Calibri" pitchFamily="34" charset="0"/>
                <a:ea typeface="Calibri" pitchFamily="34" charset="-122"/>
                <a:cs typeface="Calibri" pitchFamily="34" charset="-120"/>
              </a:rPr>
              <a:t>AfriMeet AI combines cutting-edge Artificial Intelligence with a rigorous machine learning research component to address one of Africa's most pressing communication challenges. By focusing on fine-tuning the Whisper Automatic Speech Recognition model for multilingual conference speech, the project satisfies the complete Data Science workflow — from problem definition and data preparation to modeling, evaluation, and deployment — while delivering a practical application that benefits real-world users.</a:t>
            </a:r>
            <a:endParaRPr lang="en-US" sz="1550" dirty="0"/>
          </a:p>
        </p:txBody>
      </p:sp>
      <p:sp>
        <p:nvSpPr>
          <p:cNvPr id="5" name="Text 3"/>
          <p:cNvSpPr/>
          <p:nvPr/>
        </p:nvSpPr>
        <p:spPr>
          <a:xfrm>
            <a:off x="841248" y="3429000"/>
            <a:ext cx="10509199" cy="1463040"/>
          </a:xfrm>
          <a:prstGeom prst="rect">
            <a:avLst/>
          </a:prstGeom>
          <a:noFill/>
          <a:ln/>
        </p:spPr>
        <p:txBody>
          <a:bodyPr wrap="square" rtlCol="0" anchor="t"/>
          <a:lstStyle/>
          <a:p>
            <a:pPr indent="0" marL="0">
              <a:buNone/>
            </a:pPr>
            <a:r>
              <a:rPr lang="en-US" sz="1550" dirty="0">
                <a:solidFill>
                  <a:srgbClr val="2B2B28"/>
                </a:solidFill>
                <a:latin typeface="Calibri" pitchFamily="34" charset="0"/>
                <a:ea typeface="Calibri" pitchFamily="34" charset="-122"/>
                <a:cs typeface="Calibri" pitchFamily="34" charset="-120"/>
              </a:rPr>
              <a:t>Beyond serving as a Master's project, AfriMeet AI has the potential to evolve into an enterprise-grade AI Meeting Intelligence Platform supporting governments, universities, conference centres, healthcare institutions, and international organizations across Africa. The combination of strong societal impact, scientific contribution, and commercial potential positions the project as an innovative and scalable solution for multilingual collaboration in the digital era.</a:t>
            </a:r>
            <a:endParaRPr lang="en-US" sz="1550" dirty="0"/>
          </a:p>
        </p:txBody>
      </p:sp>
      <p:sp>
        <p:nvSpPr>
          <p:cNvPr id="6" name="Shape 4"/>
          <p:cNvSpPr/>
          <p:nvPr/>
        </p:nvSpPr>
        <p:spPr>
          <a:xfrm>
            <a:off x="841248" y="5166360"/>
            <a:ext cx="10509199" cy="19202"/>
          </a:xfrm>
          <a:prstGeom prst="rect">
            <a:avLst/>
          </a:prstGeom>
          <a:solidFill>
            <a:srgbClr val="A6785C"/>
          </a:solidFill>
          <a:ln/>
        </p:spPr>
      </p:sp>
      <p:sp>
        <p:nvSpPr>
          <p:cNvPr id="7" name="Text 5"/>
          <p:cNvSpPr/>
          <p:nvPr/>
        </p:nvSpPr>
        <p:spPr>
          <a:xfrm>
            <a:off x="841248" y="5349240"/>
            <a:ext cx="10509199" cy="457200"/>
          </a:xfrm>
          <a:prstGeom prst="rect">
            <a:avLst/>
          </a:prstGeom>
          <a:noFill/>
          <a:ln/>
        </p:spPr>
        <p:txBody>
          <a:bodyPr wrap="square" rtlCol="0" anchor="ctr"/>
          <a:lstStyle/>
          <a:p>
            <a:pPr indent="0" marL="0">
              <a:buNone/>
            </a:pPr>
            <a:r>
              <a:rPr lang="en-US" sz="1500" i="1" dirty="0">
                <a:solidFill>
                  <a:srgbClr val="5C7A8A"/>
                </a:solidFill>
                <a:latin typeface="Calibri" pitchFamily="34" charset="0"/>
                <a:ea typeface="Calibri" pitchFamily="34" charset="-122"/>
                <a:cs typeface="Calibri" pitchFamily="34" charset="-120"/>
              </a:rPr>
              <a:t>Thank you. Questions and comments are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2026-07-17T09:00:35Z</dcterms:created>
  <dcterms:modified xsi:type="dcterms:W3CDTF">2026-07-17T09:00:35Z</dcterms:modified>
</cp:coreProperties>
</file>